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28816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JANE FURSE MEMORIAL HOSPITAL  /  NETWORK INFRASTRUCTURE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326880" y="652881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 • 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4A4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28816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JANE FURSE MEMORIAL HOSPITAL  /  NETWORK INFRASTRUCTURE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326880" y="652881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 • 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0"/>
            <a:ext cx="3730752" cy="6473952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502920"/>
            <a:ext cx="0" cy="5394960"/>
          </a:xfrm>
          <a:prstGeom prst="line">
            <a:avLst/>
          </a:prstGeom>
          <a:noFill/>
          <a:ln w="8890">
            <a:solidFill>
              <a:srgbClr val="3E3E3E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9171432" y="502920"/>
            <a:ext cx="0" cy="5394960"/>
          </a:xfrm>
          <a:prstGeom prst="line">
            <a:avLst/>
          </a:prstGeom>
          <a:noFill/>
          <a:ln w="8890">
            <a:solidFill>
              <a:srgbClr val="3E3E3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610344" y="502920"/>
            <a:ext cx="0" cy="5394960"/>
          </a:xfrm>
          <a:prstGeom prst="line">
            <a:avLst/>
          </a:prstGeom>
          <a:noFill/>
          <a:ln w="8890">
            <a:solidFill>
              <a:srgbClr val="3E3E3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049256" y="502920"/>
            <a:ext cx="0" cy="5394960"/>
          </a:xfrm>
          <a:prstGeom prst="line">
            <a:avLst/>
          </a:prstGeom>
          <a:noFill/>
          <a:ln w="8890">
            <a:solidFill>
              <a:srgbClr val="3E3E3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488168" y="502920"/>
            <a:ext cx="0" cy="5394960"/>
          </a:xfrm>
          <a:prstGeom prst="line">
            <a:avLst/>
          </a:prstGeom>
          <a:noFill/>
          <a:ln w="8890">
            <a:solidFill>
              <a:srgbClr val="3E3E3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27080" y="502920"/>
            <a:ext cx="0" cy="5394960"/>
          </a:xfrm>
          <a:prstGeom prst="line">
            <a:avLst/>
          </a:prstGeom>
          <a:noFill/>
          <a:ln w="8890">
            <a:solidFill>
              <a:srgbClr val="3E3E3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365992" y="502920"/>
            <a:ext cx="0" cy="5394960"/>
          </a:xfrm>
          <a:prstGeom prst="line">
            <a:avLst/>
          </a:prstGeom>
          <a:noFill/>
          <a:ln w="8890">
            <a:solidFill>
              <a:srgbClr val="3E3E3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549640" y="685800"/>
            <a:ext cx="329184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549640" y="1188720"/>
            <a:ext cx="329184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549640" y="1691640"/>
            <a:ext cx="329184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549640" y="2194560"/>
            <a:ext cx="329184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549640" y="2697480"/>
            <a:ext cx="329184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549640" y="3200400"/>
            <a:ext cx="329184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549640" y="3703320"/>
            <a:ext cx="329184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549640" y="4206240"/>
            <a:ext cx="329184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549640" y="4709160"/>
            <a:ext cx="329184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549640" y="5212080"/>
            <a:ext cx="329184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869680" y="1097280"/>
            <a:ext cx="246888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29800" y="1417320"/>
            <a:ext cx="548640" cy="548640"/>
          </a:xfrm>
          <a:prstGeom prst="ellipse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2514600"/>
            <a:ext cx="402336" cy="402336"/>
          </a:xfrm>
          <a:prstGeom prst="ellipse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61320" y="2514600"/>
            <a:ext cx="402336" cy="402336"/>
          </a:xfrm>
          <a:prstGeom prst="ellipse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48088" y="2743200"/>
            <a:ext cx="502920" cy="502920"/>
          </a:xfrm>
          <a:prstGeom prst="ellipse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04120" y="1965960"/>
            <a:ext cx="-658368" cy="621792"/>
          </a:xfrm>
          <a:prstGeom prst="line">
            <a:avLst/>
          </a:prstGeom>
          <a:noFill/>
          <a:ln w="25400">
            <a:solidFill>
              <a:srgbClr val="101010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0131552" y="1965960"/>
            <a:ext cx="612648" cy="621792"/>
          </a:xfrm>
          <a:prstGeom prst="line">
            <a:avLst/>
          </a:prstGeom>
          <a:noFill/>
          <a:ln w="25400">
            <a:solidFill>
              <a:srgbClr val="101010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628632" y="2724912"/>
            <a:ext cx="265176" cy="210312"/>
          </a:xfrm>
          <a:prstGeom prst="line">
            <a:avLst/>
          </a:prstGeom>
          <a:noFill/>
          <a:ln w="25400">
            <a:solidFill>
              <a:srgbClr val="101010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698480" y="2724912"/>
            <a:ext cx="-365760" cy="219456"/>
          </a:xfrm>
          <a:prstGeom prst="line">
            <a:avLst/>
          </a:prstGeom>
          <a:noFill/>
          <a:ln w="25400">
            <a:solidFill>
              <a:srgbClr val="10101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658368" y="5943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INTEGRATED LEARNING  /  2026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1170432"/>
            <a:ext cx="740664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CONNECTING CARE.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SECURING DATA.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BRIDGING THE DIVIDE.</a:t>
            </a:r>
            <a:endParaRPr lang="en-US" sz="3100" dirty="0"/>
          </a:p>
        </p:txBody>
      </p:sp>
      <p:sp>
        <p:nvSpPr>
          <p:cNvPr id="31" name="Shape 29"/>
          <p:cNvSpPr/>
          <p:nvPr/>
        </p:nvSpPr>
        <p:spPr>
          <a:xfrm>
            <a:off x="676656" y="3694176"/>
            <a:ext cx="777240" cy="5029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" y="3977640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9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Jane Furse Memorial Hospital Network Infrastructure Project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" y="475488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Developing a sustainable, secure and reliable connection to the Sekhukhune District Municipality network</a:t>
            </a:r>
            <a:endParaRPr lang="en-US" sz="1270" dirty="0"/>
          </a:p>
        </p:txBody>
      </p:sp>
      <p:sp>
        <p:nvSpPr>
          <p:cNvPr id="34" name="Text 32"/>
          <p:cNvSpPr txBox="1"/>
          <p:nvPr/>
        </p:nvSpPr>
        <p:spPr>
          <a:xfrm>
            <a:off x="676656" y="58704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+ TASK 2  •  DIPLOMA IN INFORMATION TECHNOLOGY MANAGEMENT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at a glance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one-year transformation of connectivity, computing, data protection and ICT capability.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27632"/>
            <a:ext cx="6537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dedicated municipal-to-hospital network will provide the foundation for more dependable digital healthcare and connected operations.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94944" y="3072384"/>
            <a:ext cx="68580" cy="68580"/>
          </a:xfrm>
          <a:prstGeom prst="ellipse">
            <a:avLst/>
          </a:prstGeom>
          <a:solidFill>
            <a:srgbClr val="101010"/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2944368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an approximately 1 km fibre link with mobile failover.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694944" y="3557016"/>
            <a:ext cx="68580" cy="68580"/>
          </a:xfrm>
          <a:prstGeom prst="ellipse">
            <a:avLst/>
          </a:prstGeom>
          <a:solidFill>
            <a:srgbClr val="101010"/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3429000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Modernise endpoints, shared printing, servers and storage.</a:t>
            </a:r>
            <a:endParaRPr lang="en-US" sz="1310" dirty="0"/>
          </a:p>
        </p:txBody>
      </p:sp>
      <p:sp>
        <p:nvSpPr>
          <p:cNvPr id="11" name="Shape 9"/>
          <p:cNvSpPr/>
          <p:nvPr/>
        </p:nvSpPr>
        <p:spPr>
          <a:xfrm>
            <a:off x="694944" y="4041648"/>
            <a:ext cx="68580" cy="68580"/>
          </a:xfrm>
          <a:prstGeom prst="ellipse">
            <a:avLst/>
          </a:prstGeom>
          <a:solidFill>
            <a:srgbClr val="101010"/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3913632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EHR, integrated finance and supply-chain workflows.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694944" y="4526280"/>
            <a:ext cx="68580" cy="68580"/>
          </a:xfrm>
          <a:prstGeom prst="ellipse">
            <a:avLst/>
          </a:prstGeom>
          <a:solidFill>
            <a:srgbClr val="101010"/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4398264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security, backup, governance and ICT staff capability.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7635240" y="1664208"/>
            <a:ext cx="1691640" cy="1353312"/>
          </a:xfrm>
          <a:prstGeom prst="rect">
            <a:avLst/>
          </a:prstGeom>
          <a:solidFill>
            <a:srgbClr val="F4F4F4"/>
          </a:solidFill>
          <a:ln w="1016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81544" y="1801368"/>
            <a:ext cx="1399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600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2322576"/>
            <a:ext cx="1362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799832" y="2587752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shifts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9491472" y="1664208"/>
            <a:ext cx="1691640" cy="1353312"/>
          </a:xfrm>
          <a:prstGeom prst="rect">
            <a:avLst/>
          </a:prstGeom>
          <a:solidFill>
            <a:srgbClr val="F4F4F4"/>
          </a:solidFill>
          <a:ln w="1016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37776" y="1801368"/>
            <a:ext cx="1399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2700" dirty="0"/>
          </a:p>
        </p:txBody>
      </p:sp>
      <p:sp>
        <p:nvSpPr>
          <p:cNvPr id="21" name="Text 19"/>
          <p:cNvSpPr txBox="1"/>
          <p:nvPr/>
        </p:nvSpPr>
        <p:spPr>
          <a:xfrm>
            <a:off x="9656064" y="2322576"/>
            <a:ext cx="1362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/ DAY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9656064" y="2587752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Approximate volume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7635240" y="3182112"/>
            <a:ext cx="1691640" cy="1353312"/>
          </a:xfrm>
          <a:prstGeom prst="rect">
            <a:avLst/>
          </a:prstGeom>
          <a:solidFill>
            <a:srgbClr val="F4F4F4"/>
          </a:solidFill>
          <a:ln w="1016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81544" y="3319272"/>
            <a:ext cx="1399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700" dirty="0"/>
          </a:p>
        </p:txBody>
      </p:sp>
      <p:sp>
        <p:nvSpPr>
          <p:cNvPr id="25" name="Text 23"/>
          <p:cNvSpPr txBox="1"/>
          <p:nvPr/>
        </p:nvSpPr>
        <p:spPr>
          <a:xfrm>
            <a:off x="7799832" y="3840480"/>
            <a:ext cx="1362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7799832" y="4105656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delivery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9491472" y="3182112"/>
            <a:ext cx="1691640" cy="1353312"/>
          </a:xfrm>
          <a:prstGeom prst="rect">
            <a:avLst/>
          </a:prstGeom>
          <a:solidFill>
            <a:srgbClr val="F4F4F4"/>
          </a:solidFill>
          <a:ln w="1016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37776" y="3319272"/>
            <a:ext cx="1399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R8.3–14.5m</a:t>
            </a:r>
            <a:endParaRPr lang="en-US" sz="2700" dirty="0"/>
          </a:p>
        </p:txBody>
      </p:sp>
      <p:sp>
        <p:nvSpPr>
          <p:cNvPr id="29" name="Text 27"/>
          <p:cNvSpPr txBox="1"/>
          <p:nvPr/>
        </p:nvSpPr>
        <p:spPr>
          <a:xfrm>
            <a:off x="9656064" y="3840480"/>
            <a:ext cx="1362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9656064" y="4105656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total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7635240" y="4754880"/>
            <a:ext cx="3547872" cy="61264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45552" y="489204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RELIABLE, SECURE DIGITAL CARE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rural hospital with district-wide importance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Jane Furse Memorial Hospital serves the Sekhukhune District in Limpopo.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72768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network gap is more than a technology issue: it affects how quickly staff can find patient information, communicate with suppliers and keep critical services running.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3657600"/>
            <a:ext cx="2971800" cy="749808"/>
          </a:xfrm>
          <a:prstGeom prst="rect">
            <a:avLst/>
          </a:prstGeom>
          <a:solidFill>
            <a:srgbClr val="222222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" y="376732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KM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856232" y="38130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municipal offices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005072" y="3657600"/>
            <a:ext cx="2971800" cy="749808"/>
          </a:xfrm>
          <a:prstGeom prst="rect">
            <a:avLst/>
          </a:prstGeom>
          <a:solidFill>
            <a:srgbClr val="222222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9664" y="376732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175504" y="38130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wards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85800" y="4663440"/>
            <a:ext cx="2971800" cy="749808"/>
          </a:xfrm>
          <a:prstGeom prst="rect">
            <a:avLst/>
          </a:prstGeom>
          <a:solidFill>
            <a:srgbClr val="222222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" y="477316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856232" y="48188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Administration offices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005072" y="4663440"/>
            <a:ext cx="2971800" cy="749808"/>
          </a:xfrm>
          <a:prstGeom prst="rect">
            <a:avLst/>
          </a:prstGeom>
          <a:solidFill>
            <a:srgbClr val="222222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69664" y="477316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48188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 support personnel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863840" y="1664208"/>
            <a:ext cx="3456432" cy="395020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56448" y="19385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CONTEXT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156448" y="233172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Sekhukhune District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Limpopo, South Africa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8174736" y="3337560"/>
            <a:ext cx="279806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8156448" y="3584448"/>
            <a:ext cx="28072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municipality has an existing network. The hospital sits approximately one kilometre away, creating a clear opportunity to extend connectivity.</a:t>
            </a:r>
            <a:endParaRPr lang="en-US" sz="122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491947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constraint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156448" y="5166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Openserve is the only carrier identified in the project documents.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current state creates avoidable friction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Outdated devices, disconnected systems and weak data protection slow down daily work.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2542032" cy="1298448"/>
          </a:xfrm>
          <a:prstGeom prst="rect">
            <a:avLst/>
          </a:prstGeom>
          <a:solidFill>
            <a:srgbClr val="F4F4F4"/>
          </a:solidFill>
          <a:ln w="1016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764792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86000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COMPUTERS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93008" y="1627632"/>
            <a:ext cx="2542032" cy="1298448"/>
          </a:xfrm>
          <a:prstGeom prst="rect">
            <a:avLst/>
          </a:prstGeom>
          <a:solidFill>
            <a:srgbClr val="F4F4F4"/>
          </a:solidFill>
          <a:ln w="1016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9312" y="1764792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286000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PRINTERS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345936" y="1627632"/>
            <a:ext cx="2542032" cy="1298448"/>
          </a:xfrm>
          <a:prstGeom prst="rect">
            <a:avLst/>
          </a:prstGeom>
          <a:solidFill>
            <a:srgbClr val="F4F4F4"/>
          </a:solidFill>
          <a:ln w="1016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764792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286000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STORAGE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98864" y="1627632"/>
            <a:ext cx="2542032" cy="1298448"/>
          </a:xfrm>
          <a:prstGeom prst="rect">
            <a:avLst/>
          </a:prstGeom>
          <a:solidFill>
            <a:srgbClr val="F4F4F4"/>
          </a:solidFill>
          <a:ln w="1016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45168" y="1764792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9363456" y="2286000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 / AV BASELINE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8368" y="3273552"/>
            <a:ext cx="5230368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273552"/>
            <a:ext cx="50292" cy="102412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3419856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RECORDS</a:t>
            </a:r>
            <a:endParaRPr lang="en-US" sz="83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3657600"/>
            <a:ext cx="4864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files go missing; no central searchable database.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6254496" y="3273552"/>
            <a:ext cx="5230368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3273552"/>
            <a:ext cx="50292" cy="102412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3419856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83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3657600"/>
            <a:ext cx="4864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systems slow reporting and prevent easy municipal data exchange.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58368" y="4526280"/>
            <a:ext cx="5230368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526280"/>
            <a:ext cx="50292" cy="102412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4672584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CHAIN</a:t>
            </a:r>
            <a:endParaRPr lang="en-US" sz="83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4910328"/>
            <a:ext cx="4864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Unreliable connectivity slows Intralink orders and can cause duplicates.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6254496" y="4526280"/>
            <a:ext cx="5230368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4496" y="4526280"/>
            <a:ext cx="50292" cy="102412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37376" y="4672584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 CAPACITY</a:t>
            </a:r>
            <a:endParaRPr lang="en-US" sz="830" dirty="0"/>
          </a:p>
        </p:txBody>
      </p:sp>
      <p:sp>
        <p:nvSpPr>
          <p:cNvPr id="33" name="Text 31"/>
          <p:cNvSpPr txBox="1"/>
          <p:nvPr/>
        </p:nvSpPr>
        <p:spPr>
          <a:xfrm>
            <a:off x="6437376" y="4910328"/>
            <a:ext cx="4864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support staff spend too much time fixing old computers.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project needs to happen now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Delays preserve risks to patient safety, data integrity and service continuity.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59105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91056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safety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9105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or slow-to-find records can delay care and increase the risk of error.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1325880" y="2185416"/>
            <a:ext cx="9765792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704088" y="24231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423160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423160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effective controls, patient and financial information is exposed.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1325880" y="3017520"/>
            <a:ext cx="9765792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704088" y="325526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255264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productivity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255264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machines and manual work reduce time available for core duties.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325880" y="3849624"/>
            <a:ext cx="9765792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704088" y="408736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087368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alignment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4087368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digital health direction, POPIA-focused data management and SDGs 3 and 9.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1325880" y="4681728"/>
            <a:ext cx="9765792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704088" y="491947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919472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window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4919472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municipality has identified the project as a priority for funding.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success must deliver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goals translated into tangible outcomes and acceptance measures.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618488"/>
            <a:ext cx="3456432" cy="1636776"/>
          </a:xfrm>
          <a:prstGeom prst="rect">
            <a:avLst/>
          </a:prstGeom>
          <a:solidFill>
            <a:srgbClr val="202020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7830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5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87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0939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fibre link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60604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≤10 ms target latency; 99.9% uptime target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4407408" y="1618488"/>
            <a:ext cx="3456432" cy="1636776"/>
          </a:xfrm>
          <a:prstGeom prst="rect">
            <a:avLst/>
          </a:prstGeom>
          <a:solidFill>
            <a:srgbClr val="202020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08576" y="17830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5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MODERNISE</a:t>
            </a:r>
            <a:endParaRPr lang="en-US" sz="87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0939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40+ workstations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60604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40 modern desktop computers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8156448" y="1618488"/>
            <a:ext cx="3456432" cy="1636776"/>
          </a:xfrm>
          <a:prstGeom prst="rect">
            <a:avLst/>
          </a:prstGeom>
          <a:solidFill>
            <a:srgbClr val="202020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7616" y="17830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5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</a:t>
            </a:r>
            <a:endParaRPr lang="en-US" sz="87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20939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data &amp; network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60604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Firewall, endpoint protection, encryption and access controls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58368" y="3584448"/>
            <a:ext cx="3456432" cy="1636776"/>
          </a:xfrm>
          <a:prstGeom prst="rect">
            <a:avLst/>
          </a:prstGeom>
          <a:solidFill>
            <a:srgbClr val="202020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37490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5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</a:t>
            </a:r>
            <a:endParaRPr lang="en-US" sz="870" dirty="0"/>
          </a:p>
        </p:txBody>
      </p:sp>
      <p:sp>
        <p:nvSpPr>
          <p:cNvPr id="20" name="Text 18"/>
          <p:cNvSpPr txBox="1"/>
          <p:nvPr/>
        </p:nvSpPr>
        <p:spPr>
          <a:xfrm>
            <a:off x="859536" y="40599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backup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457200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backups; documented restore tests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4407408" y="3584448"/>
            <a:ext cx="3456432" cy="1636776"/>
          </a:xfrm>
          <a:prstGeom prst="rect">
            <a:avLst/>
          </a:prstGeom>
          <a:solidFill>
            <a:srgbClr val="202020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08576" y="37490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5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</a:t>
            </a:r>
            <a:endParaRPr lang="en-US" sz="870" dirty="0"/>
          </a:p>
        </p:txBody>
      </p:sp>
      <p:sp>
        <p:nvSpPr>
          <p:cNvPr id="24" name="Text 22"/>
          <p:cNvSpPr txBox="1"/>
          <p:nvPr/>
        </p:nvSpPr>
        <p:spPr>
          <a:xfrm>
            <a:off x="4608576" y="40599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applications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608576" y="457200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EHR, finance, Intralinks and municipal workflows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8156448" y="3584448"/>
            <a:ext cx="3456432" cy="1636776"/>
          </a:xfrm>
          <a:prstGeom prst="rect">
            <a:avLst/>
          </a:prstGeom>
          <a:solidFill>
            <a:srgbClr val="202020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57616" y="37490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5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EMPOWER</a:t>
            </a:r>
            <a:endParaRPr lang="en-US" sz="870" dirty="0"/>
          </a:p>
        </p:txBody>
      </p:sp>
      <p:sp>
        <p:nvSpPr>
          <p:cNvPr id="28" name="Text 26"/>
          <p:cNvSpPr txBox="1"/>
          <p:nvPr/>
        </p:nvSpPr>
        <p:spPr>
          <a:xfrm>
            <a:off x="8357616" y="40599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ICT capacity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357616" y="4572000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ICT staff trained with SOPs and manuals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658368" y="5715000"/>
            <a:ext cx="10954512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5769864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spc="130" kern="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WINDOW  •  SEPTEMBER 2026 — AUGUST 2027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around the people who depend on it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is required from planning through handover and ongoing operations.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2542032" cy="166420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27632"/>
            <a:ext cx="50292" cy="166420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77393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BENEFICIARY 01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0116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459736"/>
            <a:ext cx="21762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access to records; fewer avoidable delays.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3474720" y="1627632"/>
            <a:ext cx="2542032" cy="166420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627632"/>
            <a:ext cx="50292" cy="166420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177393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BENEFICIARY 02</a:t>
            </a:r>
            <a:endParaRPr lang="en-US" sz="83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0116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DOCTORS &amp; NURSES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459736"/>
            <a:ext cx="21762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paperwork; more time for direct care.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291072" y="1627632"/>
            <a:ext cx="2542032" cy="166420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1627632"/>
            <a:ext cx="50292" cy="166420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3952" y="177393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BENEFICIARY 03</a:t>
            </a:r>
            <a:endParaRPr lang="en-US" sz="83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20116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&amp; FINANCE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2459736"/>
            <a:ext cx="21762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computing, reporting and connected systems.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107424" y="1627632"/>
            <a:ext cx="2542032" cy="166420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07424" y="1627632"/>
            <a:ext cx="50292" cy="166420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90304" y="177393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BENEFICIARY 04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9290304" y="20116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 TEAM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90304" y="2459736"/>
            <a:ext cx="21762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skills; less reactive repair work.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58368" y="3639312"/>
            <a:ext cx="2542032" cy="166420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639312"/>
            <a:ext cx="50292" cy="166420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378561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BENEFICIARY 05</a:t>
            </a:r>
            <a:endParaRPr lang="en-US" sz="83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40233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MANAGEMENT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4471416"/>
            <a:ext cx="21762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reporting, governance and decisions.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3474720" y="3639312"/>
            <a:ext cx="2542032" cy="166420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3639312"/>
            <a:ext cx="50292" cy="166420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57600" y="378561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BENEFICIARY 06</a:t>
            </a:r>
            <a:endParaRPr lang="en-US" sz="830" dirty="0"/>
          </a:p>
        </p:txBody>
      </p:sp>
      <p:sp>
        <p:nvSpPr>
          <p:cNvPr id="34" name="Text 32"/>
          <p:cNvSpPr txBox="1"/>
          <p:nvPr/>
        </p:nvSpPr>
        <p:spPr>
          <a:xfrm>
            <a:off x="3657600" y="40233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MUNICIPALITY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0" y="4471416"/>
            <a:ext cx="21762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for extending district ICT services.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6291072" y="3639312"/>
            <a:ext cx="2542032" cy="166420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91072" y="3639312"/>
            <a:ext cx="50292" cy="166420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73952" y="378561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BENEFICIARY 07</a:t>
            </a:r>
            <a:endParaRPr lang="en-US" sz="830" dirty="0"/>
          </a:p>
        </p:txBody>
      </p:sp>
      <p:sp>
        <p:nvSpPr>
          <p:cNvPr id="39" name="Text 37"/>
          <p:cNvSpPr txBox="1"/>
          <p:nvPr/>
        </p:nvSpPr>
        <p:spPr>
          <a:xfrm>
            <a:off x="6473952" y="40233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73952" y="4471416"/>
            <a:ext cx="21762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reliable purchase orders and delivery tracking.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9107424" y="3639312"/>
            <a:ext cx="2542032" cy="166420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07424" y="3639312"/>
            <a:ext cx="50292" cy="166420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290304" y="378561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BENEFICIARY 08</a:t>
            </a:r>
            <a:endParaRPr lang="en-US" sz="830" dirty="0"/>
          </a:p>
        </p:txBody>
      </p:sp>
      <p:sp>
        <p:nvSpPr>
          <p:cNvPr id="44" name="Text 42"/>
          <p:cNvSpPr txBox="1"/>
          <p:nvPr/>
        </p:nvSpPr>
        <p:spPr>
          <a:xfrm>
            <a:off x="9290304" y="40233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290304" y="4471416"/>
            <a:ext cx="21762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access to dependable rural healthcare.</a:t>
            </a:r>
            <a:endParaRPr lang="en-US" sz="1060" dirty="0"/>
          </a:p>
        </p:txBody>
      </p:sp>
      <p:sp>
        <p:nvSpPr>
          <p:cNvPr id="46" name="Text 44"/>
          <p:cNvSpPr txBox="1"/>
          <p:nvPr/>
        </p:nvSpPr>
        <p:spPr>
          <a:xfrm>
            <a:off x="731520" y="5833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methods: requirements workshops • steering committee • staff communication • practical training • community awareness</a:t>
            </a:r>
            <a:endParaRPr lang="en-US" sz="1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proposed solution: one connected environment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Infrastructure, systems and operating practices are planned as a single solution.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901952"/>
            <a:ext cx="1993392" cy="2331720"/>
          </a:xfrm>
          <a:prstGeom prst="rect">
            <a:avLst/>
          </a:prstGeom>
          <a:solidFill>
            <a:srgbClr val="F1F1F1"/>
          </a:solidFill>
          <a:ln w="10160">
            <a:solidFill>
              <a:srgbClr val="D5D5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2039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59689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813816" y="3017520"/>
            <a:ext cx="1618488" cy="0"/>
          </a:xfrm>
          <a:prstGeom prst="line">
            <a:avLst/>
          </a:prstGeom>
          <a:noFill/>
          <a:ln w="10160">
            <a:solidFill>
              <a:srgbClr val="A0A0A0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813816" y="32186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km fibre + Openserve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4G/5G failover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3063240"/>
            <a:ext cx="22860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6080" y="1901952"/>
            <a:ext cx="1993392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5D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81528" y="2039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081528" y="259689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3081528" y="3017520"/>
            <a:ext cx="1618488" cy="0"/>
          </a:xfrm>
          <a:prstGeom prst="line">
            <a:avLst/>
          </a:prstGeom>
          <a:noFill/>
          <a:ln w="10160">
            <a:solidFill>
              <a:srgbClr val="A0A0A0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3081528" y="32186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end-user devices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network printers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19472" y="3063240"/>
            <a:ext cx="22860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93792" y="1901952"/>
            <a:ext cx="1993392" cy="2331720"/>
          </a:xfrm>
          <a:prstGeom prst="rect">
            <a:avLst/>
          </a:prstGeom>
          <a:solidFill>
            <a:srgbClr val="F1F1F1"/>
          </a:solidFill>
          <a:ln w="10160">
            <a:solidFill>
              <a:srgbClr val="D5D5D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9240" y="2039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59689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CENTRALISE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349240" y="3017520"/>
            <a:ext cx="1618488" cy="0"/>
          </a:xfrm>
          <a:prstGeom prst="line">
            <a:avLst/>
          </a:prstGeom>
          <a:noFill/>
          <a:ln w="10160">
            <a:solidFill>
              <a:srgbClr val="A0A0A0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5349240" y="32186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servers + 32 TB NAS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 and shared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87184" y="3063240"/>
            <a:ext cx="22860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61504" y="1901952"/>
            <a:ext cx="1993392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5D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16952" y="2039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7616952" y="259689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616952" y="3017520"/>
            <a:ext cx="1618488" cy="0"/>
          </a:xfrm>
          <a:prstGeom prst="line">
            <a:avLst/>
          </a:prstGeom>
          <a:noFill/>
          <a:ln w="10160">
            <a:solidFill>
              <a:srgbClr val="A0A0A0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7616952" y="32186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Firewall, VLANs, MFA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and logs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54896" y="3063240"/>
            <a:ext cx="22860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29216" y="1901952"/>
            <a:ext cx="1993392" cy="2331720"/>
          </a:xfrm>
          <a:prstGeom prst="rect">
            <a:avLst/>
          </a:prstGeom>
          <a:solidFill>
            <a:srgbClr val="F1F1F1"/>
          </a:solidFill>
          <a:ln w="10160">
            <a:solidFill>
              <a:srgbClr val="D5D5D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84664" y="2039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9884664" y="259689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9884664" y="3017520"/>
            <a:ext cx="1618488" cy="0"/>
          </a:xfrm>
          <a:prstGeom prst="line">
            <a:avLst/>
          </a:prstGeom>
          <a:noFill/>
          <a:ln w="10160">
            <a:solidFill>
              <a:srgbClr val="A0A0A0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 txBox="1"/>
          <p:nvPr/>
        </p:nvSpPr>
        <p:spPr>
          <a:xfrm>
            <a:off x="9884664" y="32186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Training, SOPs, SLA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&amp; recovery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8368" y="4773168"/>
            <a:ext cx="10954512" cy="804672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9536" y="4928616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2468880" y="4873752"/>
            <a:ext cx="8686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patient-care continuity first; make the system manageable for a three-person ICT team.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Connectivity: fibre first, fail over automatically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dedicated path between the municipality and the hospital.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2029968"/>
            <a:ext cx="2057400" cy="1234440"/>
          </a:xfrm>
          <a:prstGeom prst="rect">
            <a:avLst/>
          </a:prstGeom>
          <a:solidFill>
            <a:srgbClr val="222222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585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MUNICIPALITY</a:t>
            </a:r>
            <a:endParaRPr lang="en-US" sz="123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C7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district network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749040" y="2029968"/>
            <a:ext cx="23317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58768" y="225856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KM FIBRE LINK</a:t>
            </a:r>
            <a:endParaRPr lang="en-US" sz="1230" dirty="0"/>
          </a:p>
        </p:txBody>
      </p:sp>
      <p:sp>
        <p:nvSpPr>
          <p:cNvPr id="11" name="Text 9"/>
          <p:cNvSpPr txBox="1"/>
          <p:nvPr/>
        </p:nvSpPr>
        <p:spPr>
          <a:xfrm>
            <a:off x="3858768" y="2606040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12-core OS2 single-mode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Buried route preferred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7114032" y="2029968"/>
            <a:ext cx="1901952" cy="1234440"/>
          </a:xfrm>
          <a:prstGeom prst="rect">
            <a:avLst/>
          </a:prstGeom>
          <a:solidFill>
            <a:srgbClr val="222222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22585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EDGE</a:t>
            </a:r>
            <a:endParaRPr lang="en-US" sz="123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60604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C7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FortiGate NGFW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C7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SD-WAN monitoring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9692640" y="2029968"/>
            <a:ext cx="1737360" cy="1234440"/>
          </a:xfrm>
          <a:prstGeom prst="rect">
            <a:avLst/>
          </a:prstGeom>
          <a:solidFill>
            <a:srgbClr val="222222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02368" y="225856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 / USERS</a:t>
            </a:r>
            <a:endParaRPr lang="en-US" sz="1230" dirty="0"/>
          </a:p>
        </p:txBody>
      </p:sp>
      <p:sp>
        <p:nvSpPr>
          <p:cNvPr id="17" name="Text 15"/>
          <p:cNvSpPr txBox="1"/>
          <p:nvPr/>
        </p:nvSpPr>
        <p:spPr>
          <a:xfrm>
            <a:off x="9802368" y="2606040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C7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wards + 5 offices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788920" y="2651760"/>
            <a:ext cx="905256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99048" y="2651760"/>
            <a:ext cx="960120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15984" y="2651760"/>
            <a:ext cx="612648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160520" y="4023360"/>
            <a:ext cx="3858768" cy="960120"/>
          </a:xfrm>
          <a:prstGeom prst="rect">
            <a:avLst/>
          </a:prstGeom>
          <a:solidFill>
            <a:srgbClr val="2A2A2A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0" y="4169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BBB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WAN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4256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Dual-SIM 4G/5G router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89904" y="4023360"/>
            <a:ext cx="1728216" cy="-68580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31520" y="5376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service targets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6692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≥100 Mbps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6016752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6C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minimum target</a:t>
            </a:r>
            <a:endParaRPr lang="en-US" sz="870" dirty="0"/>
          </a:p>
        </p:txBody>
      </p:sp>
      <p:sp>
        <p:nvSpPr>
          <p:cNvPr id="28" name="Text 26"/>
          <p:cNvSpPr txBox="1"/>
          <p:nvPr/>
        </p:nvSpPr>
        <p:spPr>
          <a:xfrm>
            <a:off x="3493008" y="56692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Mbps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6016752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6C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bearer; scalable to 1 Gbps</a:t>
            </a:r>
            <a:endParaRPr lang="en-US" sz="870" dirty="0"/>
          </a:p>
        </p:txBody>
      </p:sp>
      <p:sp>
        <p:nvSpPr>
          <p:cNvPr id="30" name="Text 28"/>
          <p:cNvSpPr txBox="1"/>
          <p:nvPr/>
        </p:nvSpPr>
        <p:spPr>
          <a:xfrm>
            <a:off x="6254496" y="56692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≤10 ms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254496" y="6016752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6C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latency</a:t>
            </a:r>
            <a:endParaRPr lang="en-US" sz="870" dirty="0"/>
          </a:p>
        </p:txBody>
      </p:sp>
      <p:sp>
        <p:nvSpPr>
          <p:cNvPr id="32" name="Text 30"/>
          <p:cNvSpPr txBox="1"/>
          <p:nvPr/>
        </p:nvSpPr>
        <p:spPr>
          <a:xfrm>
            <a:off x="9015984" y="56692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99.9%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015984" y="6016752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6C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Uptime target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Physical network architecture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layered layout connects the external carrier, core equipment, servers and clinical users.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83480" y="1536192"/>
            <a:ext cx="2240280" cy="566928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56632" y="1609344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OPENserve / MUNICIPALITY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56632" y="1847088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 handoff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4983480" y="2487168"/>
            <a:ext cx="2240280" cy="566928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56632" y="256032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FORTIGATE 100F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56632" y="2798064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NGFW • IDS/IPS • SD-WAN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4983480" y="3456432"/>
            <a:ext cx="2240280" cy="566928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56632" y="3529584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SWITCH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56632" y="3767328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3 • 10 Gb uplinks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1965960" cy="566928"/>
          </a:xfrm>
          <a:prstGeom prst="rect">
            <a:avLst/>
          </a:prstGeom>
          <a:solidFill>
            <a:srgbClr val="F3F3F3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482803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SWITCHES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" y="506577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Ward &amp; office cabinets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3364992" y="4754880"/>
            <a:ext cx="1965960" cy="566928"/>
          </a:xfrm>
          <a:prstGeom prst="rect">
            <a:avLst/>
          </a:prstGeom>
          <a:solidFill>
            <a:srgbClr val="F3F3F3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38144" y="482803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RACK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438144" y="506577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servers + 32 TB NAS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806440" y="4754880"/>
            <a:ext cx="1965960" cy="566928"/>
          </a:xfrm>
          <a:prstGeom prst="rect">
            <a:avLst/>
          </a:prstGeom>
          <a:solidFill>
            <a:srgbClr val="F3F3F3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79592" y="482803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WIRELESS APs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879592" y="506577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Wi-Fi 6 access points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302752" y="4754880"/>
            <a:ext cx="2487168" cy="566928"/>
          </a:xfrm>
          <a:prstGeom prst="rect">
            <a:avLst/>
          </a:prstGeom>
          <a:solidFill>
            <a:srgbClr val="F3F3F3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75904" y="482803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506577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PCs • printers • laptops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6108192" y="2103120"/>
            <a:ext cx="0" cy="338328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08192" y="3054096"/>
            <a:ext cx="0" cy="356616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08192" y="4023360"/>
            <a:ext cx="0" cy="301752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901952" y="4325112"/>
            <a:ext cx="7644384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901952" y="4325112"/>
            <a:ext cx="0" cy="3657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343400" y="4325112"/>
            <a:ext cx="0" cy="3657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793992" y="4325112"/>
            <a:ext cx="0" cy="3657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546336" y="4325112"/>
            <a:ext cx="0" cy="3657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68680" y="583387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 + generator support critical equipment; locked cabinets and a cooled server room protect the physical layer.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Logical segmentation limits unnecessary access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clinical, administrative, infrastructure and guest traffic.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10954512" cy="647700"/>
          </a:xfrm>
          <a:prstGeom prst="rect">
            <a:avLst/>
          </a:prstGeom>
          <a:solidFill>
            <a:srgbClr val="171717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64208"/>
            <a:ext cx="839602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44274" y="16459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1717426" y="1664208"/>
            <a:ext cx="2154144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44722" y="16459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 txBox="1"/>
          <p:nvPr/>
        </p:nvSpPr>
        <p:spPr>
          <a:xfrm>
            <a:off x="4017874" y="1664208"/>
            <a:ext cx="2154144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SUBNET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45169" y="16459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6318321" y="1664208"/>
            <a:ext cx="5221407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INTENT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2293620"/>
            <a:ext cx="10954512" cy="647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311908"/>
            <a:ext cx="839602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4274" y="22936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 txBox="1"/>
          <p:nvPr/>
        </p:nvSpPr>
        <p:spPr>
          <a:xfrm>
            <a:off x="1717426" y="2311908"/>
            <a:ext cx="2154144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44722" y="22936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4017874" y="2311908"/>
            <a:ext cx="2154144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10.10.10.0/24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45169" y="22936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6318321" y="2311908"/>
            <a:ext cx="5221407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AD, EHR database, files, Veeam, WSUS — strict access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2941320"/>
            <a:ext cx="10954512" cy="647700"/>
          </a:xfrm>
          <a:prstGeom prst="rect">
            <a:avLst/>
          </a:prstGeom>
          <a:solidFill>
            <a:srgbClr val="F3F3F3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2959608"/>
            <a:ext cx="839602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44274" y="29413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1717426" y="2959608"/>
            <a:ext cx="2154144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workstations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44722" y="29413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4017874" y="2959608"/>
            <a:ext cx="2154144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10.10.20.0/24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45169" y="29413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6318321" y="2959608"/>
            <a:ext cx="5221407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Ward PCs; clinicians access EHR according to role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" y="3589020"/>
            <a:ext cx="10954512" cy="647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3607308"/>
            <a:ext cx="839602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44274" y="35890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1717426" y="3607308"/>
            <a:ext cx="2154144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&amp; finance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44722" y="35890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4017874" y="3607308"/>
            <a:ext cx="2154144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10.10.30.0/24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45169" y="35890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 txBox="1"/>
          <p:nvPr/>
        </p:nvSpPr>
        <p:spPr>
          <a:xfrm>
            <a:off x="6318321" y="3607308"/>
            <a:ext cx="5221407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 and finance systems; no clinical records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" y="4236720"/>
            <a:ext cx="10954512" cy="647700"/>
          </a:xfrm>
          <a:prstGeom prst="rect">
            <a:avLst/>
          </a:prstGeom>
          <a:solidFill>
            <a:srgbClr val="F3F3F3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4255008"/>
            <a:ext cx="839602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44274" y="42367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 txBox="1"/>
          <p:nvPr/>
        </p:nvSpPr>
        <p:spPr>
          <a:xfrm>
            <a:off x="1717426" y="4255008"/>
            <a:ext cx="2154144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VoIP / medical devices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944722" y="42367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4017874" y="4255008"/>
            <a:ext cx="2154144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45169" y="42367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 txBox="1"/>
          <p:nvPr/>
        </p:nvSpPr>
        <p:spPr>
          <a:xfrm>
            <a:off x="6318321" y="4255008"/>
            <a:ext cx="5221407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Reserved for future services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8368" y="4884420"/>
            <a:ext cx="10954512" cy="647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4902708"/>
            <a:ext cx="839602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644274" y="48844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 txBox="1"/>
          <p:nvPr/>
        </p:nvSpPr>
        <p:spPr>
          <a:xfrm>
            <a:off x="1717426" y="4902708"/>
            <a:ext cx="2154144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Wi-Fi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944722" y="48844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51" name="Text 49"/>
          <p:cNvSpPr txBox="1"/>
          <p:nvPr/>
        </p:nvSpPr>
        <p:spPr>
          <a:xfrm>
            <a:off x="4017874" y="4902708"/>
            <a:ext cx="2154144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192.168.99.0/24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45169" y="4884420"/>
            <a:ext cx="0" cy="64770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53" name="Text 51"/>
          <p:cNvSpPr txBox="1"/>
          <p:nvPr/>
        </p:nvSpPr>
        <p:spPr>
          <a:xfrm>
            <a:off x="6318321" y="4902708"/>
            <a:ext cx="5221407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only; isolated from hospital VLANs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58368" y="5742432"/>
            <a:ext cx="10954512" cy="384048"/>
          </a:xfrm>
          <a:prstGeom prst="rect">
            <a:avLst/>
          </a:prstGeom>
          <a:solidFill>
            <a:srgbClr val="EAEAEA"/>
          </a:solidFill>
          <a:ln w="10160">
            <a:solidFill>
              <a:srgbClr val="EAEAEA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2960" y="57972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POINT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2194560" y="5779008"/>
            <a:ext cx="9052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 rules determine which services can cross segments; guest devices never reach patient-data systems.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built for shared hospital use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Standardised end-user equipment and network coverage across wards and offices.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5276088" cy="160020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82880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3500" dirty="0"/>
          </a:p>
        </p:txBody>
      </p:sp>
      <p:sp>
        <p:nvSpPr>
          <p:cNvPr id="8" name="Text 6"/>
          <p:cNvSpPr txBox="1"/>
          <p:nvPr/>
        </p:nvSpPr>
        <p:spPr>
          <a:xfrm>
            <a:off x="2029968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PCs</a:t>
            </a:r>
            <a:endParaRPr lang="en-US" sz="1280" dirty="0"/>
          </a:p>
        </p:txBody>
      </p:sp>
      <p:sp>
        <p:nvSpPr>
          <p:cNvPr id="9" name="Text 7"/>
          <p:cNvSpPr txBox="1"/>
          <p:nvPr/>
        </p:nvSpPr>
        <p:spPr>
          <a:xfrm>
            <a:off x="2029968" y="2286000"/>
            <a:ext cx="35935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GB RAM • 512 GB SSD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11 Pro • TPM 2.0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81928" y="1627632"/>
            <a:ext cx="5276088" cy="160020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83096" y="182880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3500" dirty="0"/>
          </a:p>
        </p:txBody>
      </p:sp>
      <p:sp>
        <p:nvSpPr>
          <p:cNvPr id="12" name="Text 10"/>
          <p:cNvSpPr txBox="1"/>
          <p:nvPr/>
        </p:nvSpPr>
        <p:spPr>
          <a:xfrm>
            <a:off x="7653528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LAPTOPS</a:t>
            </a:r>
            <a:endParaRPr lang="en-US" sz="1280" dirty="0"/>
          </a:p>
        </p:txBody>
      </p:sp>
      <p:sp>
        <p:nvSpPr>
          <p:cNvPr id="13" name="Text 11"/>
          <p:cNvSpPr txBox="1"/>
          <p:nvPr/>
        </p:nvSpPr>
        <p:spPr>
          <a:xfrm>
            <a:off x="7653528" y="2286000"/>
            <a:ext cx="35935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management and roaming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LTE module in proposed spec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566160"/>
            <a:ext cx="5276088" cy="160020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" y="376732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3500" dirty="0"/>
          </a:p>
        </p:txBody>
      </p:sp>
      <p:sp>
        <p:nvSpPr>
          <p:cNvPr id="16" name="Text 14"/>
          <p:cNvSpPr txBox="1"/>
          <p:nvPr/>
        </p:nvSpPr>
        <p:spPr>
          <a:xfrm>
            <a:off x="2029968" y="3776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PRINTERS</a:t>
            </a:r>
            <a:endParaRPr lang="en-US" sz="1280" dirty="0"/>
          </a:p>
        </p:txBody>
      </p:sp>
      <p:sp>
        <p:nvSpPr>
          <p:cNvPr id="17" name="Text 15"/>
          <p:cNvSpPr txBox="1"/>
          <p:nvPr/>
        </p:nvSpPr>
        <p:spPr>
          <a:xfrm>
            <a:off x="2029968" y="4224528"/>
            <a:ext cx="35935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MFPs + 2 high-volume mono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print &amp; cost tracking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81928" y="3566160"/>
            <a:ext cx="5276088" cy="160020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83096" y="376732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3500" dirty="0"/>
          </a:p>
        </p:txBody>
      </p:sp>
      <p:sp>
        <p:nvSpPr>
          <p:cNvPr id="20" name="Text 18"/>
          <p:cNvSpPr txBox="1"/>
          <p:nvPr/>
        </p:nvSpPr>
        <p:spPr>
          <a:xfrm>
            <a:off x="7653528" y="3776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WIRELESS APs</a:t>
            </a:r>
            <a:endParaRPr lang="en-US" sz="1280" dirty="0"/>
          </a:p>
        </p:txBody>
      </p:sp>
      <p:sp>
        <p:nvSpPr>
          <p:cNvPr id="21" name="Text 19"/>
          <p:cNvSpPr txBox="1"/>
          <p:nvPr/>
        </p:nvSpPr>
        <p:spPr>
          <a:xfrm>
            <a:off x="7653528" y="4224528"/>
            <a:ext cx="35935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Wi-Fi 6 across hospital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Cloud-managed controller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742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planning also includes one core switch, six distribution switches and access switches across the ward cabinets.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 servers and resilient storage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services support day-to-day clinical work while backup copies enable recovery.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3310128" cy="193852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91640"/>
            <a:ext cx="50292" cy="193852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837944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PRIMARY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07568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&amp; database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606040"/>
            <a:ext cx="2944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Server 2022 • Hyper-V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 database, AD/DNS/DHCP and finance apps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133088" y="1691640"/>
            <a:ext cx="3310128" cy="193852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3088" y="1691640"/>
            <a:ext cx="50292" cy="193852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15968" y="1837944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BACKUP</a:t>
            </a:r>
            <a:endParaRPr lang="en-US" sz="83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207568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&amp; file server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2606040"/>
            <a:ext cx="2944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Veeam target, file shares and WSUS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RAID storage with redundant power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607808" y="1691640"/>
            <a:ext cx="3611880" cy="1938528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07808" y="1691640"/>
            <a:ext cx="50292" cy="1938528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183794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SHARED STORAGE</a:t>
            </a:r>
            <a:endParaRPr lang="en-US" sz="83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20756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TB NAS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2606040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RAID 6 usable capacity for departmental shares and medical-imaging staging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3977640" y="2670048"/>
            <a:ext cx="1371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52360" y="2670048"/>
            <a:ext cx="1371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49808" y="41879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 IN THE DESIGN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" y="4535424"/>
            <a:ext cx="2487168" cy="969264"/>
          </a:xfrm>
          <a:prstGeom prst="rect">
            <a:avLst/>
          </a:prstGeom>
          <a:solidFill>
            <a:srgbClr val="F2F2F2"/>
          </a:solidFill>
          <a:ln w="1016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7824" y="468172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" y="4956048"/>
            <a:ext cx="2212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Tolerates selected drive failures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3511296" y="4535424"/>
            <a:ext cx="2487168" cy="969264"/>
          </a:xfrm>
          <a:prstGeom prst="rect">
            <a:avLst/>
          </a:prstGeom>
          <a:solidFill>
            <a:srgbClr val="F2F2F2"/>
          </a:solidFill>
          <a:ln w="1016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39312" y="468172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REDUNDANCY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639312" y="4956048"/>
            <a:ext cx="2212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power supplies / fans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272784" y="4535424"/>
            <a:ext cx="2487168" cy="969264"/>
          </a:xfrm>
          <a:prstGeom prst="rect">
            <a:avLst/>
          </a:prstGeom>
          <a:solidFill>
            <a:srgbClr val="F2F2F2"/>
          </a:solidFill>
          <a:ln w="1016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468172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COOLING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4956048"/>
            <a:ext cx="2212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Locked, air-conditioned server room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9034272" y="4535424"/>
            <a:ext cx="2487168" cy="969264"/>
          </a:xfrm>
          <a:prstGeom prst="rect">
            <a:avLst/>
          </a:prstGeom>
          <a:solidFill>
            <a:srgbClr val="F2F2F2"/>
          </a:solidFill>
          <a:ln w="1016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62288" y="468172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OFFSITE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162288" y="4956048"/>
            <a:ext cx="2212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external HDDs held securely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stack: infrastructure meets clinical workflows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detailed design proposes a manageable, integrated set of platform services.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3456432" cy="1298448"/>
          </a:xfrm>
          <a:prstGeom prst="rect">
            <a:avLst/>
          </a:prstGeom>
          <a:solidFill>
            <a:srgbClr val="222222"/>
          </a:solidFill>
          <a:ln w="10160">
            <a:solidFill>
              <a:srgbClr val="4B4B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1051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50" kern="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21408"/>
            <a:ext cx="30540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Server 2022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11 Pro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7408" y="1664208"/>
            <a:ext cx="3456432" cy="1298448"/>
          </a:xfrm>
          <a:prstGeom prst="rect">
            <a:avLst/>
          </a:prstGeom>
          <a:solidFill>
            <a:srgbClr val="222222"/>
          </a:solidFill>
          <a:ln w="10160">
            <a:solidFill>
              <a:srgbClr val="4B4B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81051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50" kern="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121408"/>
            <a:ext cx="30540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Directory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AD Connect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6448" y="1664208"/>
            <a:ext cx="3456432" cy="1298448"/>
          </a:xfrm>
          <a:prstGeom prst="rect">
            <a:avLst/>
          </a:prstGeom>
          <a:solidFill>
            <a:srgbClr val="222222"/>
          </a:solidFill>
          <a:ln w="10160">
            <a:solidFill>
              <a:srgbClr val="4B4B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81051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50" kern="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VIRTUALISATION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121408"/>
            <a:ext cx="30540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Hyper-V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virtual machines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3282696"/>
            <a:ext cx="3456432" cy="1298448"/>
          </a:xfrm>
          <a:prstGeom prst="rect">
            <a:avLst/>
          </a:prstGeom>
          <a:solidFill>
            <a:srgbClr val="222222"/>
          </a:solidFill>
          <a:ln w="10160">
            <a:solidFill>
              <a:srgbClr val="4B4B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4290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50" kern="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739896"/>
            <a:ext cx="30540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Defender / ESET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BitLocker • patching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07408" y="3282696"/>
            <a:ext cx="3456432" cy="1298448"/>
          </a:xfrm>
          <a:prstGeom prst="rect">
            <a:avLst/>
          </a:prstGeom>
          <a:solidFill>
            <a:srgbClr val="222222"/>
          </a:solidFill>
          <a:ln w="10160">
            <a:solidFill>
              <a:srgbClr val="4B4B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4290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50" kern="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739896"/>
            <a:ext cx="30540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Veeam Backup &amp; Replication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30-day retention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56448" y="3282696"/>
            <a:ext cx="3456432" cy="1298448"/>
          </a:xfrm>
          <a:prstGeom prst="rect">
            <a:avLst/>
          </a:prstGeom>
          <a:solidFill>
            <a:srgbClr val="222222"/>
          </a:solidFill>
          <a:ln w="10160">
            <a:solidFill>
              <a:srgbClr val="4B4B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4290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50" kern="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SECURITY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739896"/>
            <a:ext cx="30540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FortiGate FortiOS 7.4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FortiAnalyzer / VPN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5166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65960" y="5093208"/>
            <a:ext cx="2130552" cy="292608"/>
          </a:xfrm>
          <a:prstGeom prst="rect">
            <a:avLst/>
          </a:prstGeom>
          <a:solidFill>
            <a:srgbClr val="333333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39112" y="5102352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Bahmni / OpenMRS EHR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297680" y="5093208"/>
            <a:ext cx="2130552" cy="292608"/>
          </a:xfrm>
          <a:prstGeom prst="rect">
            <a:avLst/>
          </a:prstGeom>
          <a:solidFill>
            <a:srgbClr val="333333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70832" y="5102352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mSCOA / Munsoft finance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29400" y="5093208"/>
            <a:ext cx="2130552" cy="292608"/>
          </a:xfrm>
          <a:prstGeom prst="rect">
            <a:avLst/>
          </a:prstGeom>
          <a:solidFill>
            <a:srgbClr val="333333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02552" y="5102352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+ Intralinks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961120" y="5093208"/>
            <a:ext cx="2130552" cy="292608"/>
          </a:xfrm>
          <a:prstGeom prst="rect">
            <a:avLst/>
          </a:prstGeom>
          <a:solidFill>
            <a:srgbClr val="333333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34272" y="5102352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365 + helpdesk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806440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C7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products and configurations are proposals in the source design and should be confirmed during procurement and solution validation.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Electronic health records at the centre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scattered paper records with searchable, permission-controlled digital records.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60520" y="1965960"/>
            <a:ext cx="3749040" cy="1051560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4340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BAHMNI / OpenMRS EHR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5146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clinical record + audit trail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3794760"/>
            <a:ext cx="2542032" cy="877824"/>
          </a:xfrm>
          <a:prstGeom prst="rect">
            <a:avLst/>
          </a:prstGeom>
          <a:solidFill>
            <a:srgbClr val="F1F1F1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9502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4224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clinical access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1929384" y="3794760"/>
            <a:ext cx="4105656" cy="-73152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74720" y="3794760"/>
            <a:ext cx="2542032" cy="877824"/>
          </a:xfrm>
          <a:prstGeom prst="rect">
            <a:avLst/>
          </a:prstGeom>
          <a:solidFill>
            <a:srgbClr val="F1F1F1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2736" y="39502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NURSE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4224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Ward-level access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745736" y="3794760"/>
            <a:ext cx="1289304" cy="-73152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91072" y="3794760"/>
            <a:ext cx="2542032" cy="877824"/>
          </a:xfrm>
          <a:prstGeom prst="rect">
            <a:avLst/>
          </a:prstGeom>
          <a:solidFill>
            <a:srgbClr val="F1F1F1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9088" y="39502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4224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Demographics only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562088" y="3794760"/>
            <a:ext cx="-1527048" cy="-73152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07424" y="3794760"/>
            <a:ext cx="2542032" cy="877824"/>
          </a:xfrm>
          <a:prstGeom prst="rect">
            <a:avLst/>
          </a:prstGeom>
          <a:solidFill>
            <a:srgbClr val="F1F1F1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0" y="39502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PHARMACY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4224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Medication-related access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10378440" y="3794760"/>
            <a:ext cx="-4343400" cy="-73152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76656" y="5074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880" dirty="0"/>
          </a:p>
        </p:txBody>
      </p:sp>
      <p:sp>
        <p:nvSpPr>
          <p:cNvPr id="26" name="Text 24"/>
          <p:cNvSpPr txBox="1"/>
          <p:nvPr/>
        </p:nvSpPr>
        <p:spPr>
          <a:xfrm>
            <a:off x="676656" y="53583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/ ID / date</a:t>
            </a:r>
            <a:endParaRPr lang="en-US" sz="1010" dirty="0"/>
          </a:p>
        </p:txBody>
      </p:sp>
      <p:sp>
        <p:nvSpPr>
          <p:cNvPr id="27" name="Text 25"/>
          <p:cNvSpPr txBox="1"/>
          <p:nvPr/>
        </p:nvSpPr>
        <p:spPr>
          <a:xfrm>
            <a:off x="3465576" y="5074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3465576" y="53583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AES-256 at rest; TLS 1.3 in transit</a:t>
            </a:r>
            <a:endParaRPr lang="en-US" sz="1010" dirty="0"/>
          </a:p>
        </p:txBody>
      </p:sp>
      <p:sp>
        <p:nvSpPr>
          <p:cNvPr id="29" name="Text 27"/>
          <p:cNvSpPr txBox="1"/>
          <p:nvPr/>
        </p:nvSpPr>
        <p:spPr>
          <a:xfrm>
            <a:off x="6254496" y="5074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880" dirty="0"/>
          </a:p>
        </p:txBody>
      </p:sp>
      <p:sp>
        <p:nvSpPr>
          <p:cNvPr id="30" name="Text 28"/>
          <p:cNvSpPr txBox="1"/>
          <p:nvPr/>
        </p:nvSpPr>
        <p:spPr>
          <a:xfrm>
            <a:off x="6254496" y="53583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headcount + monthly DHIS statistics</a:t>
            </a:r>
            <a:endParaRPr lang="en-US" sz="1010" dirty="0"/>
          </a:p>
        </p:txBody>
      </p:sp>
      <p:sp>
        <p:nvSpPr>
          <p:cNvPr id="31" name="Text 29"/>
          <p:cNvSpPr txBox="1"/>
          <p:nvPr/>
        </p:nvSpPr>
        <p:spPr>
          <a:xfrm>
            <a:off x="9043416" y="5074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</a:t>
            </a:r>
            <a:endParaRPr lang="en-US" sz="880" dirty="0"/>
          </a:p>
        </p:txBody>
      </p:sp>
      <p:sp>
        <p:nvSpPr>
          <p:cNvPr id="32" name="Text 30"/>
          <p:cNvSpPr txBox="1"/>
          <p:nvPr/>
        </p:nvSpPr>
        <p:spPr>
          <a:xfrm>
            <a:off x="9043416" y="53583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server continues during fibre outage; sync on restoration</a:t>
            </a:r>
            <a:endParaRPr lang="en-US" sz="1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Integration removes duplicate work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clinical activity to finance reporting, stock monitoring and supplier ordering.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3017520" cy="1993392"/>
          </a:xfrm>
          <a:prstGeom prst="rect">
            <a:avLst/>
          </a:prstGeom>
          <a:solidFill>
            <a:srgbClr val="F2F2F2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039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78408" y="2487168"/>
            <a:ext cx="2551176" cy="0"/>
          </a:xfrm>
          <a:prstGeom prst="line">
            <a:avLst/>
          </a:prstGeom>
          <a:noFill/>
          <a:ln w="8890">
            <a:solidFill>
              <a:srgbClr val="BBBBB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960120" y="2715768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 / Bahmni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 • pharmacy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activity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251960" y="1828800"/>
            <a:ext cx="3017520" cy="1993392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2039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487168"/>
            <a:ext cx="2551176" cy="0"/>
          </a:xfrm>
          <a:prstGeom prst="line">
            <a:avLst/>
          </a:prstGeom>
          <a:noFill/>
          <a:ln w="8890">
            <a:solidFill>
              <a:srgbClr val="777777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4462272" y="2715768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DDDD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mSCOA / Munsoft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DDDD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 API / SFTP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DDDD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without re-entry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754112" y="1828800"/>
            <a:ext cx="3017520" cy="1993392"/>
          </a:xfrm>
          <a:prstGeom prst="rect">
            <a:avLst/>
          </a:prstGeom>
          <a:solidFill>
            <a:srgbClr val="F2F2F2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36992" y="2039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82712" y="2487168"/>
            <a:ext cx="2551176" cy="0"/>
          </a:xfrm>
          <a:prstGeom prst="line">
            <a:avLst/>
          </a:prstGeom>
          <a:noFill/>
          <a:ln w="8890">
            <a:solidFill>
              <a:srgbClr val="BBBBBB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 txBox="1"/>
          <p:nvPr/>
        </p:nvSpPr>
        <p:spPr>
          <a:xfrm>
            <a:off x="7964424" y="2715768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+ Intralinks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levels • purchase orders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performance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3803904" y="2852928"/>
            <a:ext cx="393192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06056" y="2852928"/>
            <a:ext cx="393192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" y="4434840"/>
            <a:ext cx="10021824" cy="1033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6268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4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DETAIL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2578608" y="4572000"/>
            <a:ext cx="77906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middleware service is proposed to poll stock levels every 2 hours, create purchase orders via the Intralinks API and track deliveries.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8155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target: reliable data flow between hospital systems and municipal processes, with auditability and clear ownership.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is layered, not a single product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protect the edge, devices, identities, data and the physical environment.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536192"/>
            <a:ext cx="56692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5544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EDGE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1554480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FortiGate NGFW • default-deny • IDS/IPS • web filtering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1508760" y="2103120"/>
            <a:ext cx="9601200" cy="0"/>
          </a:xfrm>
          <a:prstGeom prst="line">
            <a:avLst/>
          </a:prstGeom>
          <a:noFill/>
          <a:ln w="6350">
            <a:solidFill>
              <a:srgbClr val="48484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13232" y="2240280"/>
            <a:ext cx="56692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3042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2585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2258568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server, clinical, finance and guest VLANs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1508760" y="2807208"/>
            <a:ext cx="9601200" cy="0"/>
          </a:xfrm>
          <a:prstGeom prst="line">
            <a:avLst/>
          </a:prstGeom>
          <a:noFill/>
          <a:ln w="6350">
            <a:solidFill>
              <a:srgbClr val="48484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13232" y="2944368"/>
            <a:ext cx="56692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0083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96265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493008" y="2962656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accounts • role-based access • MFA for sensitive systems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1508760" y="3511296"/>
            <a:ext cx="9601200" cy="0"/>
          </a:xfrm>
          <a:prstGeom prst="line">
            <a:avLst/>
          </a:prstGeom>
          <a:noFill/>
          <a:ln w="6350">
            <a:solidFill>
              <a:srgbClr val="48484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13232" y="3648456"/>
            <a:ext cx="56692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371246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66674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&amp; DATA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493008" y="3666744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Defender / ESET • BitLocker • encrypted patient data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1508760" y="4215384"/>
            <a:ext cx="9601200" cy="0"/>
          </a:xfrm>
          <a:prstGeom prst="line">
            <a:avLst/>
          </a:prstGeom>
          <a:noFill/>
          <a:ln w="6350">
            <a:solidFill>
              <a:srgbClr val="484848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13232" y="4352544"/>
            <a:ext cx="56692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44165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3708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370832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FortiAnalyzer logs • alerts to ICT staff • audit trail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1508760" y="4919472"/>
            <a:ext cx="9601200" cy="0"/>
          </a:xfrm>
          <a:prstGeom prst="line">
            <a:avLst/>
          </a:prstGeom>
          <a:noFill/>
          <a:ln w="6350">
            <a:solidFill>
              <a:srgbClr val="484848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713232" y="5056632"/>
            <a:ext cx="56692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" y="51206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07492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493008" y="5074920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Locked cabinets • controlled server room • CCTV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713232" y="5943600"/>
            <a:ext cx="10607040" cy="283464"/>
          </a:xfrm>
          <a:prstGeom prst="rect">
            <a:avLst/>
          </a:prstGeom>
          <a:solidFill>
            <a:srgbClr val="2C2C2C"/>
          </a:solidFill>
          <a:ln w="10160">
            <a:solidFill>
              <a:srgbClr val="2C2C2C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" y="5971032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POPIA alignment • phishing awareness • access reviews • immediate revocation for departing staff and vendors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 and recovery are designed for real failure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proposed 3-2-1 approach separates copies and tests that data can be restored.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810512"/>
            <a:ext cx="3246120" cy="1371600"/>
          </a:xfrm>
          <a:prstGeom prst="rect">
            <a:avLst/>
          </a:prstGeom>
          <a:solidFill>
            <a:srgbClr val="F3F3F3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198424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14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1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28600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NAS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267919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local recovery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480560" y="1810512"/>
            <a:ext cx="3246120" cy="1371600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5152" y="198424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140" kern="0" dirty="0">
                <a:solidFill>
                  <a:srgbClr val="CFC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2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28600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HDD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67919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off-site rotation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183880" y="1810512"/>
            <a:ext cx="3246120" cy="1371600"/>
          </a:xfrm>
          <a:prstGeom prst="rect">
            <a:avLst/>
          </a:prstGeom>
          <a:solidFill>
            <a:srgbClr val="F3F3F3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8472" y="198424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14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3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8600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STORAGE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67919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Blob, South Africa North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38587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</a:t>
            </a:r>
            <a:endParaRPr lang="en-US" sz="870" dirty="0"/>
          </a:p>
        </p:txBody>
      </p:sp>
      <p:sp>
        <p:nvSpPr>
          <p:cNvPr id="19" name="Text 17"/>
          <p:cNvSpPr txBox="1"/>
          <p:nvPr/>
        </p:nvSpPr>
        <p:spPr>
          <a:xfrm>
            <a:off x="2176272" y="3840480"/>
            <a:ext cx="3977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Sunday full backup; incremental Monday–Saturday</a:t>
            </a:r>
            <a:endParaRPr lang="en-US" sz="1110" dirty="0"/>
          </a:p>
        </p:txBody>
      </p:sp>
      <p:sp>
        <p:nvSpPr>
          <p:cNvPr id="20" name="Text 18"/>
          <p:cNvSpPr txBox="1"/>
          <p:nvPr/>
        </p:nvSpPr>
        <p:spPr>
          <a:xfrm>
            <a:off x="6318504" y="38587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870" dirty="0"/>
          </a:p>
        </p:txBody>
      </p:sp>
      <p:sp>
        <p:nvSpPr>
          <p:cNvPr id="21" name="Text 19"/>
          <p:cNvSpPr txBox="1"/>
          <p:nvPr/>
        </p:nvSpPr>
        <p:spPr>
          <a:xfrm>
            <a:off x="7708392" y="3840480"/>
            <a:ext cx="3977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dailies + 12 monthlies on NAS</a:t>
            </a:r>
            <a:endParaRPr lang="en-US" sz="111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47274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</a:t>
            </a:r>
            <a:endParaRPr lang="en-US" sz="870" dirty="0"/>
          </a:p>
        </p:txBody>
      </p:sp>
      <p:sp>
        <p:nvSpPr>
          <p:cNvPr id="23" name="Text 21"/>
          <p:cNvSpPr txBox="1"/>
          <p:nvPr/>
        </p:nvSpPr>
        <p:spPr>
          <a:xfrm>
            <a:off x="2176272" y="4709160"/>
            <a:ext cx="3977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RTO 4 hours for servers • RPO 24 hours</a:t>
            </a:r>
            <a:endParaRPr lang="en-US" sz="1110" dirty="0"/>
          </a:p>
        </p:txBody>
      </p:sp>
      <p:sp>
        <p:nvSpPr>
          <p:cNvPr id="24" name="Text 22"/>
          <p:cNvSpPr txBox="1"/>
          <p:nvPr/>
        </p:nvSpPr>
        <p:spPr>
          <a:xfrm>
            <a:off x="6318504" y="47274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1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870" dirty="0"/>
          </a:p>
        </p:txBody>
      </p:sp>
      <p:sp>
        <p:nvSpPr>
          <p:cNvPr id="25" name="Text 23"/>
          <p:cNvSpPr txBox="1"/>
          <p:nvPr/>
        </p:nvSpPr>
        <p:spPr>
          <a:xfrm>
            <a:off x="7708392" y="4709160"/>
            <a:ext cx="3977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email report + monthly restore drill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essential services available during disruption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resilience combines power protection, WAN failover and manual procedures.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773936"/>
            <a:ext cx="3410712" cy="2907792"/>
          </a:xfrm>
          <a:prstGeom prst="rect">
            <a:avLst/>
          </a:prstGeom>
          <a:solidFill>
            <a:srgbClr val="F2F2F2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299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2450592"/>
            <a:ext cx="3035808" cy="0"/>
          </a:xfrm>
          <a:prstGeom prst="line">
            <a:avLst/>
          </a:prstGeom>
          <a:noFill/>
          <a:ln w="8890">
            <a:solidFill>
              <a:srgbClr val="BDBDBD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868680" y="269748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kVA online UPS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Server-room equipment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84448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kVA diesel generator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Auto-transfer switch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773936"/>
            <a:ext cx="3410712" cy="2907792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0299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CONNECTIVITY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450592"/>
            <a:ext cx="3035808" cy="0"/>
          </a:xfrm>
          <a:prstGeom prst="line">
            <a:avLst/>
          </a:prstGeom>
          <a:noFill/>
          <a:ln w="8890">
            <a:solidFill>
              <a:srgbClr val="5F5F5F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4617720" y="269748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 / Openserve primary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584448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Dual-SIM 4G/5G failover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83880" y="1773936"/>
            <a:ext cx="3410712" cy="2907792"/>
          </a:xfrm>
          <a:prstGeom prst="rect">
            <a:avLst/>
          </a:prstGeom>
          <a:solidFill>
            <a:srgbClr val="F2F2F2"/>
          </a:solidFill>
          <a:ln w="10160">
            <a:solidFill>
              <a:srgbClr val="D7D7D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20299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CONTINUITY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66760" y="2450592"/>
            <a:ext cx="3035808" cy="0"/>
          </a:xfrm>
          <a:prstGeom prst="line">
            <a:avLst/>
          </a:prstGeom>
          <a:noFill/>
          <a:ln w="8890">
            <a:solidFill>
              <a:srgbClr val="BDBDBD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8366760" y="269748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1: patient information, emergency and communications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584448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intake and prescriptions if outage exceeds 2 hours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18464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priority order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34640" y="5111496"/>
            <a:ext cx="530352" cy="292608"/>
          </a:xfrm>
          <a:prstGeom prst="rect">
            <a:avLst/>
          </a:prstGeom>
          <a:solidFill>
            <a:srgbClr val="EAEAEA"/>
          </a:solidFill>
          <a:ln w="10160">
            <a:solidFill>
              <a:srgbClr val="EAEAEA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07792" y="5120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5138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care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23560" y="5111496"/>
            <a:ext cx="530352" cy="292608"/>
          </a:xfrm>
          <a:prstGeom prst="rect">
            <a:avLst/>
          </a:prstGeom>
          <a:solidFill>
            <a:srgbClr val="EAEAEA"/>
          </a:solidFill>
          <a:ln w="10160">
            <a:solidFill>
              <a:srgbClr val="EAEAEA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96712" y="5120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5138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/ finance / logistics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12480" y="5111496"/>
            <a:ext cx="530352" cy="292608"/>
          </a:xfrm>
          <a:prstGeom prst="rect">
            <a:avLst/>
          </a:prstGeom>
          <a:solidFill>
            <a:srgbClr val="EAEAEA"/>
          </a:solidFill>
          <a:ln w="10160">
            <a:solidFill>
              <a:srgbClr val="EAEAEA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85632" y="5120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9052560" y="5138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office services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SOPs turn the design into repeatable operations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procedures cover installation, everyday support, data protection and continuity.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" y="1664208"/>
            <a:ext cx="5184648" cy="1078992"/>
          </a:xfrm>
          <a:prstGeom prst="rect">
            <a:avLst/>
          </a:prstGeom>
          <a:solidFill>
            <a:srgbClr val="232323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8379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SOP-001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938528" y="1828800"/>
            <a:ext cx="3685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First-line hardware &amp; network incident management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27064" y="1664208"/>
            <a:ext cx="5184648" cy="1078992"/>
          </a:xfrm>
          <a:prstGeom prst="rect">
            <a:avLst/>
          </a:prstGeom>
          <a:solidFill>
            <a:srgbClr val="232323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1656" y="18379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SOP-002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470648" y="1828800"/>
            <a:ext cx="3685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Patient-file backup and restoration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" y="3081528"/>
            <a:ext cx="5184648" cy="1078992"/>
          </a:xfrm>
          <a:prstGeom prst="rect">
            <a:avLst/>
          </a:prstGeom>
          <a:solidFill>
            <a:srgbClr val="232323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32552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SOP-003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3246120"/>
            <a:ext cx="3685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 and vendor access controls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27064" y="3081528"/>
            <a:ext cx="5184648" cy="1078992"/>
          </a:xfrm>
          <a:prstGeom prst="rect">
            <a:avLst/>
          </a:prstGeom>
          <a:solidFill>
            <a:srgbClr val="232323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91656" y="32552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SOP-004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470648" y="3246120"/>
            <a:ext cx="3685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 link and carrier maintenance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4882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EBE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RHYTHM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257800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55040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CDCD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Availability, security alerts, backups</a:t>
            </a:r>
            <a:endParaRPr lang="en-US" sz="960" dirty="0"/>
          </a:p>
        </p:txBody>
      </p:sp>
      <p:sp>
        <p:nvSpPr>
          <p:cNvPr id="21" name="Text 19"/>
          <p:cNvSpPr txBox="1"/>
          <p:nvPr/>
        </p:nvSpPr>
        <p:spPr>
          <a:xfrm>
            <a:off x="3493008" y="5257800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493008" y="555040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CDCD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Equipment, capacity, incidents</a:t>
            </a:r>
            <a:endParaRPr lang="en-US" sz="96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5257800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555040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CDCD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Patches, account reviews, restore checks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9015984" y="5257800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ANNUALLY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015984" y="555040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CDCD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test, SOP and architecture review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clear response path reduces downtime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 are logged, contained, investigated, recovered and verified.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993392"/>
            <a:ext cx="1673352" cy="2084832"/>
          </a:xfrm>
          <a:prstGeom prst="rect">
            <a:avLst/>
          </a:prstGeom>
          <a:solidFill>
            <a:srgbClr val="F2F2F2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579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60904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27248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alerts ICT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2990088"/>
            <a:ext cx="1828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51176" y="1993392"/>
            <a:ext cx="1673352" cy="2084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0048" y="21579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660904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3127248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Time, reporter, device, impact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24528" y="2990088"/>
            <a:ext cx="1828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43984" y="1993392"/>
            <a:ext cx="1673352" cy="2084832"/>
          </a:xfrm>
          <a:prstGeom prst="rect">
            <a:avLst/>
          </a:prstGeom>
          <a:solidFill>
            <a:srgbClr val="F2F2F2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2856" y="21579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2660904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3127248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 affected accounts / systems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17336" y="2990088"/>
            <a:ext cx="1828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36792" y="1993392"/>
            <a:ext cx="1673352" cy="2084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55664" y="21579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55664" y="2660904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3127248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scope and root cause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10144" y="2990088"/>
            <a:ext cx="1828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29600" y="1993392"/>
            <a:ext cx="1673352" cy="2084832"/>
          </a:xfrm>
          <a:prstGeom prst="rect">
            <a:avLst/>
          </a:prstGeom>
          <a:solidFill>
            <a:srgbClr val="F2F2F2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48472" y="21579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348472" y="2660904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348472" y="3127248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Restore service or 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902952" y="2990088"/>
            <a:ext cx="1828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122408" y="1993392"/>
            <a:ext cx="1673352" cy="2084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41280" y="21579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0" y="2660904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0" y="3127248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service and record closure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8368" y="4709160"/>
            <a:ext cx="10954512" cy="841248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" y="4882896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40" kern="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RULE</a:t>
            </a:r>
            <a:endParaRPr lang="en-US" sz="880" dirty="0"/>
          </a:p>
        </p:txBody>
      </p:sp>
      <p:sp>
        <p:nvSpPr>
          <p:cNvPr id="37" name="Text 35"/>
          <p:cNvSpPr txBox="1"/>
          <p:nvPr/>
        </p:nvSpPr>
        <p:spPr>
          <a:xfrm>
            <a:off x="2542032" y="4846320"/>
            <a:ext cx="8522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local equipment is confirmed healthy but the carrier link is down, escalate to Openserve and advise hospital management.</a:t>
            </a:r>
            <a:endParaRPr lang="en-US" sz="124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58613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prioritise patient-care systems and document the incident for monthly ICT reporting.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makes safe behaviour the default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policy areas establish expectations for access, continuity, assets, use and capability.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093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SECURITY</a:t>
            </a:r>
            <a:endParaRPr lang="en-US" sz="118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1600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accounts • MFA • encryption • locked rooms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371600" y="2112264"/>
            <a:ext cx="9784080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731520" y="24414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441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CONTINUITY</a:t>
            </a:r>
            <a:endParaRPr lang="en-US" sz="118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243230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Failover • UPS • 3-2-1 backups • manual override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71600" y="2944368"/>
            <a:ext cx="9784080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731520" y="32735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MANAGEMENT</a:t>
            </a:r>
            <a:endParaRPr lang="en-US" sz="118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26440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 records • support SLAs • replacement budget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371600" y="3776472"/>
            <a:ext cx="9784080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731520" y="410565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1056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ACCEPTABLE USE</a:t>
            </a:r>
            <a:endParaRPr lang="en-US" sz="118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40965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hospital use • email standards • monitored supplier access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371600" y="4608576"/>
            <a:ext cx="9784080" cy="0"/>
          </a:xfrm>
          <a:prstGeom prst="line">
            <a:avLst/>
          </a:prstGeom>
          <a:noFill/>
          <a:ln w="762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731520" y="4937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937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&amp; CAPACITY</a:t>
            </a:r>
            <a:endParaRPr lang="en-US" sz="118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4928616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certifications • annual staff awareness • documented handover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9808" y="5870448"/>
            <a:ext cx="10515600" cy="283464"/>
          </a:xfrm>
          <a:prstGeom prst="rect">
            <a:avLst/>
          </a:prstGeom>
          <a:solidFill>
            <a:srgbClr val="EAEAEA"/>
          </a:solidFill>
          <a:ln w="10160">
            <a:solidFill>
              <a:srgbClr val="EAEAEA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897880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and SOP compliance applies to hospital staff, ICT personnel, suppliers and contractors.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hybrid support model fits a small ICT team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staff own operations; specialist providers handle carrier and complex services.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0" y="1645920"/>
            <a:ext cx="434340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41648" y="185623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ICT TEAM  •  3 STAFF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3657600"/>
            <a:ext cx="2542032" cy="1280160"/>
          </a:xfrm>
          <a:prstGeom prst="rect">
            <a:avLst/>
          </a:prstGeom>
          <a:solidFill>
            <a:srgbClr val="232323"/>
          </a:solidFill>
          <a:ln w="10160">
            <a:solidFill>
              <a:srgbClr val="4C4C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38496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OPENSERVE</a:t>
            </a:r>
            <a:endParaRPr lang="en-US" sz="91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206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 service, carrier faults, SLA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07608" y="2551176"/>
            <a:ext cx="-4078224" cy="1042416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56432" y="3657600"/>
            <a:ext cx="2542032" cy="1280160"/>
          </a:xfrm>
          <a:prstGeom prst="rect">
            <a:avLst/>
          </a:prstGeom>
          <a:solidFill>
            <a:srgbClr val="232323"/>
          </a:solidFill>
          <a:ln w="10160">
            <a:solidFill>
              <a:srgbClr val="4C4C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84448" y="38496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SPECIALIST</a:t>
            </a:r>
            <a:endParaRPr lang="en-US" sz="91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4206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Router, switch, firewall installation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07608" y="2551176"/>
            <a:ext cx="-1280160" cy="1042416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54496" y="3657600"/>
            <a:ext cx="2542032" cy="1280160"/>
          </a:xfrm>
          <a:prstGeom prst="rect">
            <a:avLst/>
          </a:prstGeom>
          <a:solidFill>
            <a:srgbClr val="232323"/>
          </a:solidFill>
          <a:ln w="10160">
            <a:solidFill>
              <a:srgbClr val="4C4C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38496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PROVIDER</a:t>
            </a:r>
            <a:endParaRPr lang="en-US" sz="91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206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alerts, threat escalation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07608" y="2551176"/>
            <a:ext cx="1517904" cy="1042416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52560" y="3657600"/>
            <a:ext cx="2542032" cy="1280160"/>
          </a:xfrm>
          <a:prstGeom prst="rect">
            <a:avLst/>
          </a:prstGeom>
          <a:solidFill>
            <a:srgbClr val="232323"/>
          </a:solidFill>
          <a:ln w="10160">
            <a:solidFill>
              <a:srgbClr val="4C4C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0576" y="38496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MSP / HARDWARE</a:t>
            </a:r>
            <a:endParaRPr lang="en-US" sz="91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4206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Helpdesk, endpoint and repair support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07608" y="2551176"/>
            <a:ext cx="4315968" cy="1042416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49808" y="5440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BBB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CONTROLS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670048" y="5394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SLAs • response / recovery targets • confidentiality • least privilege • MFA • logging • access revocation • cost review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skills to sustain the system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training, manuals and knowledge transfer reduce long-term dependency.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5166360" cy="1316736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64208"/>
            <a:ext cx="50292" cy="1316736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81051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01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04825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4414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Cabling and fibre awareness; switch / router configuration; VLANs and routing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190488" y="1664208"/>
            <a:ext cx="5166360" cy="1316736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1664208"/>
            <a:ext cx="50292" cy="1316736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181051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02</a:t>
            </a:r>
            <a:endParaRPr lang="en-US" sz="83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204825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24414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 administration; patching; malware response; account and access management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58368" y="3264408"/>
            <a:ext cx="5166360" cy="1316736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264408"/>
            <a:ext cx="50292" cy="1316736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341071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03</a:t>
            </a:r>
            <a:endParaRPr lang="en-US" sz="83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364845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0416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monitoring; restore procedures; disaster recovery; incident logging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190488" y="3264408"/>
            <a:ext cx="5166360" cy="1316736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3264408"/>
            <a:ext cx="50292" cy="1316736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3368" y="341071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40" kern="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04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6373368" y="364845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73368" y="40416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Helpdesk ticketing; prioritisation; escalation; end-user communication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58368" y="5230368"/>
            <a:ext cx="10954512" cy="621792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6112" y="54041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C8C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PACKAGE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706624" y="5358384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As-built diagrams • IP schemas • digital and paper manuals • restore-drill evidence • asset register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unfolds in five controlled phases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acceptance gates make progress measurable within the 12-month window.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1993392" cy="269748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2011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642616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INITIATE &amp; SURVEY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3816" y="3264408"/>
            <a:ext cx="777240" cy="292608"/>
          </a:xfrm>
          <a:prstGeom prst="rect">
            <a:avLst/>
          </a:prstGeom>
          <a:solidFill>
            <a:srgbClr val="333333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273552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M1–2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3694176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C8C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Charter • requirements • site survey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651760" y="3063240"/>
            <a:ext cx="21945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16936" y="1828800"/>
            <a:ext cx="1993392" cy="269748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72384" y="2011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072384" y="2642616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 &amp; PREPARE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72384" y="3264408"/>
            <a:ext cx="777240" cy="292608"/>
          </a:xfrm>
          <a:prstGeom prst="rect">
            <a:avLst/>
          </a:prstGeom>
          <a:solidFill>
            <a:srgbClr val="333333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45536" y="3273552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M3–5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072384" y="3694176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C8C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 • licences • firewall setup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910328" y="3063240"/>
            <a:ext cx="21945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75504" y="1828800"/>
            <a:ext cx="1993392" cy="269748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30952" y="2011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330952" y="2642616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&amp; DEPLOY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30952" y="3264408"/>
            <a:ext cx="777240" cy="292608"/>
          </a:xfrm>
          <a:prstGeom prst="rect">
            <a:avLst/>
          </a:prstGeom>
          <a:solidFill>
            <a:srgbClr val="333333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04104" y="3273552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M6–8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330952" y="3694176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C8C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 • network • endpoints • apps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7168896" y="3063240"/>
            <a:ext cx="21945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34072" y="1828800"/>
            <a:ext cx="1993392" cy="269748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0" y="2011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2642616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&amp; VALIDATE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89520" y="3264408"/>
            <a:ext cx="777240" cy="292608"/>
          </a:xfrm>
          <a:prstGeom prst="rect">
            <a:avLst/>
          </a:prstGeom>
          <a:solidFill>
            <a:srgbClr val="333333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62672" y="3273552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M9–10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589520" y="3694176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C8C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 training • UAT • restore drill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9427464" y="3063240"/>
            <a:ext cx="21945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92640" y="1828800"/>
            <a:ext cx="1993392" cy="269748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48088" y="2011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9848088" y="2642616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 OVER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848088" y="3264408"/>
            <a:ext cx="777240" cy="292608"/>
          </a:xfrm>
          <a:prstGeom prst="rect">
            <a:avLst/>
          </a:prstGeom>
          <a:solidFill>
            <a:srgbClr val="333333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21240" y="3273552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M11–12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9848088" y="3694176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C8C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SOPs • final tests • acceptance</a:t>
            </a:r>
            <a:endParaRPr lang="en-US" sz="970" dirty="0"/>
          </a:p>
        </p:txBody>
      </p:sp>
      <p:sp>
        <p:nvSpPr>
          <p:cNvPr id="40" name="Text 38"/>
          <p:cNvSpPr txBox="1"/>
          <p:nvPr/>
        </p:nvSpPr>
        <p:spPr>
          <a:xfrm>
            <a:off x="758952" y="519379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Months are aligned to the project schedule; critical procurement and fibre activities should begin early to manage rural-location risks.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12-month roadmap and milestone dates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sequence from project initiation in September 2026 to handover in August 2027.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938528"/>
            <a:ext cx="786384" cy="1307592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 26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770632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Initiation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1591056" y="1938528"/>
            <a:ext cx="786384" cy="1307592"/>
          </a:xfrm>
          <a:prstGeom prst="rect">
            <a:avLst/>
          </a:prstGeom>
          <a:solidFill>
            <a:srgbClr val="F2F2F2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920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627632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636776" y="2770632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523744" y="1938528"/>
            <a:ext cx="786384" cy="1307592"/>
          </a:xfrm>
          <a:prstGeom prst="rect">
            <a:avLst/>
          </a:prstGeom>
          <a:solidFill>
            <a:srgbClr val="F2F2F2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78608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 26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569464" y="2770632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456432" y="1938528"/>
            <a:ext cx="786384" cy="1307592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11296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493008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 26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3502152" y="2770632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389120" y="1938528"/>
            <a:ext cx="786384" cy="1307592"/>
          </a:xfrm>
          <a:prstGeom prst="rect">
            <a:avLst/>
          </a:prstGeom>
          <a:solidFill>
            <a:srgbClr val="F2F2F2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43984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425696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27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2770632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321808" y="1938528"/>
            <a:ext cx="786384" cy="1307592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76672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M6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358384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 27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367528" y="2770632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254496" y="1938528"/>
            <a:ext cx="786384" cy="1307592"/>
          </a:xfrm>
          <a:prstGeom prst="rect">
            <a:avLst/>
          </a:prstGeom>
          <a:solidFill>
            <a:srgbClr val="F2F2F2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M7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291072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 27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300216" y="2770632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187184" y="1938528"/>
            <a:ext cx="786384" cy="1307592"/>
          </a:xfrm>
          <a:prstGeom prst="rect">
            <a:avLst/>
          </a:prstGeom>
          <a:solidFill>
            <a:srgbClr val="F2F2F2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42048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M8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 27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7232904" y="2770632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119872" y="1938528"/>
            <a:ext cx="786384" cy="1307592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74736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M9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156448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27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8165592" y="2770632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9052560" y="1938528"/>
            <a:ext cx="786384" cy="1307592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07424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M10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089136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 27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9098280" y="2770632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9985248" y="1938528"/>
            <a:ext cx="786384" cy="1307592"/>
          </a:xfrm>
          <a:prstGeom prst="rect">
            <a:avLst/>
          </a:prstGeom>
          <a:solidFill>
            <a:srgbClr val="F2F2F2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040112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M11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10021824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27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0030968" y="2770632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SOPs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10917936" y="1938528"/>
            <a:ext cx="786384" cy="1307592"/>
          </a:xfrm>
          <a:prstGeom prst="rect">
            <a:avLst/>
          </a:prstGeom>
          <a:solidFill>
            <a:srgbClr val="171717"/>
          </a:solidFill>
          <a:ln w="1016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972800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M12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10954512" y="23957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27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10963656" y="2770632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D0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658368" y="3493008"/>
            <a:ext cx="10954512" cy="263347"/>
          </a:xfrm>
          <a:prstGeom prst="rect">
            <a:avLst/>
          </a:prstGeom>
          <a:solidFill>
            <a:srgbClr val="171717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31520" y="3511296"/>
            <a:ext cx="182550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 ID</a:t>
            </a:r>
            <a:endParaRPr lang="en-US" sz="910" dirty="0"/>
          </a:p>
        </p:txBody>
      </p:sp>
      <p:sp>
        <p:nvSpPr>
          <p:cNvPr id="56" name="Shape 54"/>
          <p:cNvSpPr/>
          <p:nvPr/>
        </p:nvSpPr>
        <p:spPr>
          <a:xfrm>
            <a:off x="2630180" y="3493008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57" name="Text 55"/>
          <p:cNvSpPr txBox="1"/>
          <p:nvPr/>
        </p:nvSpPr>
        <p:spPr>
          <a:xfrm>
            <a:off x="2703332" y="3511296"/>
            <a:ext cx="587867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8655162" y="3493008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59" name="Text 57"/>
          <p:cNvSpPr txBox="1"/>
          <p:nvPr/>
        </p:nvSpPr>
        <p:spPr>
          <a:xfrm>
            <a:off x="8728314" y="3511296"/>
            <a:ext cx="281141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910" dirty="0"/>
          </a:p>
        </p:txBody>
      </p:sp>
      <p:sp>
        <p:nvSpPr>
          <p:cNvPr id="60" name="Shape 58"/>
          <p:cNvSpPr/>
          <p:nvPr/>
        </p:nvSpPr>
        <p:spPr>
          <a:xfrm>
            <a:off x="658368" y="3756355"/>
            <a:ext cx="10954512" cy="263347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31520" y="3774643"/>
            <a:ext cx="182550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M-01</a:t>
            </a:r>
            <a:endParaRPr lang="en-US" sz="890" dirty="0"/>
          </a:p>
        </p:txBody>
      </p:sp>
      <p:sp>
        <p:nvSpPr>
          <p:cNvPr id="62" name="Shape 60"/>
          <p:cNvSpPr/>
          <p:nvPr/>
        </p:nvSpPr>
        <p:spPr>
          <a:xfrm>
            <a:off x="2630180" y="3756355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63" name="Text 61"/>
          <p:cNvSpPr txBox="1"/>
          <p:nvPr/>
        </p:nvSpPr>
        <p:spPr>
          <a:xfrm>
            <a:off x="2703332" y="3774643"/>
            <a:ext cx="587867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Initiation complete</a:t>
            </a:r>
            <a:endParaRPr lang="en-US" sz="890" dirty="0"/>
          </a:p>
        </p:txBody>
      </p:sp>
      <p:sp>
        <p:nvSpPr>
          <p:cNvPr id="64" name="Shape 62"/>
          <p:cNvSpPr/>
          <p:nvPr/>
        </p:nvSpPr>
        <p:spPr>
          <a:xfrm>
            <a:off x="8655162" y="3756355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65" name="Text 63"/>
          <p:cNvSpPr txBox="1"/>
          <p:nvPr/>
        </p:nvSpPr>
        <p:spPr>
          <a:xfrm>
            <a:off x="8728314" y="3774643"/>
            <a:ext cx="281141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 2026</a:t>
            </a:r>
            <a:endParaRPr lang="en-US" sz="890" dirty="0"/>
          </a:p>
        </p:txBody>
      </p:sp>
      <p:sp>
        <p:nvSpPr>
          <p:cNvPr id="66" name="Shape 64"/>
          <p:cNvSpPr/>
          <p:nvPr/>
        </p:nvSpPr>
        <p:spPr>
          <a:xfrm>
            <a:off x="658368" y="4019702"/>
            <a:ext cx="10954512" cy="263347"/>
          </a:xfrm>
          <a:prstGeom prst="rect">
            <a:avLst/>
          </a:prstGeom>
          <a:solidFill>
            <a:srgbClr val="F3F3F3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31520" y="4037990"/>
            <a:ext cx="182550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M-02</a:t>
            </a:r>
            <a:endParaRPr lang="en-US" sz="890" dirty="0"/>
          </a:p>
        </p:txBody>
      </p:sp>
      <p:sp>
        <p:nvSpPr>
          <p:cNvPr id="68" name="Shape 66"/>
          <p:cNvSpPr/>
          <p:nvPr/>
        </p:nvSpPr>
        <p:spPr>
          <a:xfrm>
            <a:off x="2630180" y="4019702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69" name="Text 67"/>
          <p:cNvSpPr txBox="1"/>
          <p:nvPr/>
        </p:nvSpPr>
        <p:spPr>
          <a:xfrm>
            <a:off x="2703332" y="4037990"/>
            <a:ext cx="587867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&amp; architecture approved</a:t>
            </a:r>
            <a:endParaRPr lang="en-US" sz="890" dirty="0"/>
          </a:p>
        </p:txBody>
      </p:sp>
      <p:sp>
        <p:nvSpPr>
          <p:cNvPr id="70" name="Shape 68"/>
          <p:cNvSpPr/>
          <p:nvPr/>
        </p:nvSpPr>
        <p:spPr>
          <a:xfrm>
            <a:off x="8655162" y="4019702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71" name="Text 69"/>
          <p:cNvSpPr txBox="1"/>
          <p:nvPr/>
        </p:nvSpPr>
        <p:spPr>
          <a:xfrm>
            <a:off x="8728314" y="4037990"/>
            <a:ext cx="281141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2026</a:t>
            </a:r>
            <a:endParaRPr lang="en-US" sz="890" dirty="0"/>
          </a:p>
        </p:txBody>
      </p:sp>
      <p:sp>
        <p:nvSpPr>
          <p:cNvPr id="72" name="Shape 70"/>
          <p:cNvSpPr/>
          <p:nvPr/>
        </p:nvSpPr>
        <p:spPr>
          <a:xfrm>
            <a:off x="658368" y="4283050"/>
            <a:ext cx="10954512" cy="263347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31520" y="4301338"/>
            <a:ext cx="182550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M-03</a:t>
            </a:r>
            <a:endParaRPr lang="en-US" sz="890" dirty="0"/>
          </a:p>
        </p:txBody>
      </p:sp>
      <p:sp>
        <p:nvSpPr>
          <p:cNvPr id="74" name="Shape 72"/>
          <p:cNvSpPr/>
          <p:nvPr/>
        </p:nvSpPr>
        <p:spPr>
          <a:xfrm>
            <a:off x="2630180" y="4283050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75" name="Text 73"/>
          <p:cNvSpPr txBox="1"/>
          <p:nvPr/>
        </p:nvSpPr>
        <p:spPr>
          <a:xfrm>
            <a:off x="2703332" y="4301338"/>
            <a:ext cx="587867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complete</a:t>
            </a:r>
            <a:endParaRPr lang="en-US" sz="890" dirty="0"/>
          </a:p>
        </p:txBody>
      </p:sp>
      <p:sp>
        <p:nvSpPr>
          <p:cNvPr id="76" name="Shape 74"/>
          <p:cNvSpPr/>
          <p:nvPr/>
        </p:nvSpPr>
        <p:spPr>
          <a:xfrm>
            <a:off x="8655162" y="4283050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77" name="Text 75"/>
          <p:cNvSpPr txBox="1"/>
          <p:nvPr/>
        </p:nvSpPr>
        <p:spPr>
          <a:xfrm>
            <a:off x="8728314" y="4301338"/>
            <a:ext cx="281141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 2026</a:t>
            </a:r>
            <a:endParaRPr lang="en-US" sz="890" dirty="0"/>
          </a:p>
        </p:txBody>
      </p:sp>
      <p:sp>
        <p:nvSpPr>
          <p:cNvPr id="78" name="Shape 76"/>
          <p:cNvSpPr/>
          <p:nvPr/>
        </p:nvSpPr>
        <p:spPr>
          <a:xfrm>
            <a:off x="658368" y="4546397"/>
            <a:ext cx="10954512" cy="263347"/>
          </a:xfrm>
          <a:prstGeom prst="rect">
            <a:avLst/>
          </a:prstGeom>
          <a:solidFill>
            <a:srgbClr val="F3F3F3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31520" y="4564685"/>
            <a:ext cx="182550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M-04</a:t>
            </a:r>
            <a:endParaRPr lang="en-US" sz="890" dirty="0"/>
          </a:p>
        </p:txBody>
      </p:sp>
      <p:sp>
        <p:nvSpPr>
          <p:cNvPr id="80" name="Shape 78"/>
          <p:cNvSpPr/>
          <p:nvPr/>
        </p:nvSpPr>
        <p:spPr>
          <a:xfrm>
            <a:off x="2630180" y="4546397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81" name="Text 79"/>
          <p:cNvSpPr txBox="1"/>
          <p:nvPr/>
        </p:nvSpPr>
        <p:spPr>
          <a:xfrm>
            <a:off x="2703332" y="4564685"/>
            <a:ext cx="587867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 installation complete</a:t>
            </a:r>
            <a:endParaRPr lang="en-US" sz="890" dirty="0"/>
          </a:p>
        </p:txBody>
      </p:sp>
      <p:sp>
        <p:nvSpPr>
          <p:cNvPr id="82" name="Shape 80"/>
          <p:cNvSpPr/>
          <p:nvPr/>
        </p:nvSpPr>
        <p:spPr>
          <a:xfrm>
            <a:off x="8655162" y="4546397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83" name="Text 81"/>
          <p:cNvSpPr txBox="1"/>
          <p:nvPr/>
        </p:nvSpPr>
        <p:spPr>
          <a:xfrm>
            <a:off x="8728314" y="4564685"/>
            <a:ext cx="281141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 2026</a:t>
            </a:r>
            <a:endParaRPr lang="en-US" sz="890" dirty="0"/>
          </a:p>
        </p:txBody>
      </p:sp>
      <p:sp>
        <p:nvSpPr>
          <p:cNvPr id="84" name="Shape 82"/>
          <p:cNvSpPr/>
          <p:nvPr/>
        </p:nvSpPr>
        <p:spPr>
          <a:xfrm>
            <a:off x="658368" y="4809744"/>
            <a:ext cx="10954512" cy="263347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31520" y="4828032"/>
            <a:ext cx="182550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M-05</a:t>
            </a:r>
            <a:endParaRPr lang="en-US" sz="890" dirty="0"/>
          </a:p>
        </p:txBody>
      </p:sp>
      <p:sp>
        <p:nvSpPr>
          <p:cNvPr id="86" name="Shape 84"/>
          <p:cNvSpPr/>
          <p:nvPr/>
        </p:nvSpPr>
        <p:spPr>
          <a:xfrm>
            <a:off x="2630180" y="4809744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87" name="Text 85"/>
          <p:cNvSpPr txBox="1"/>
          <p:nvPr/>
        </p:nvSpPr>
        <p:spPr>
          <a:xfrm>
            <a:off x="2703332" y="4828032"/>
            <a:ext cx="587867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/ network deployment</a:t>
            </a:r>
            <a:endParaRPr lang="en-US" sz="890" dirty="0"/>
          </a:p>
        </p:txBody>
      </p:sp>
      <p:sp>
        <p:nvSpPr>
          <p:cNvPr id="88" name="Shape 86"/>
          <p:cNvSpPr/>
          <p:nvPr/>
        </p:nvSpPr>
        <p:spPr>
          <a:xfrm>
            <a:off x="8655162" y="4809744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89" name="Text 87"/>
          <p:cNvSpPr txBox="1"/>
          <p:nvPr/>
        </p:nvSpPr>
        <p:spPr>
          <a:xfrm>
            <a:off x="8728314" y="4828032"/>
            <a:ext cx="281141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 2027</a:t>
            </a:r>
            <a:endParaRPr lang="en-US" sz="890" dirty="0"/>
          </a:p>
        </p:txBody>
      </p:sp>
      <p:sp>
        <p:nvSpPr>
          <p:cNvPr id="90" name="Shape 88"/>
          <p:cNvSpPr/>
          <p:nvPr/>
        </p:nvSpPr>
        <p:spPr>
          <a:xfrm>
            <a:off x="658368" y="5073091"/>
            <a:ext cx="10954512" cy="263347"/>
          </a:xfrm>
          <a:prstGeom prst="rect">
            <a:avLst/>
          </a:prstGeom>
          <a:solidFill>
            <a:srgbClr val="F3F3F3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31520" y="5091379"/>
            <a:ext cx="182550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M-06</a:t>
            </a:r>
            <a:endParaRPr lang="en-US" sz="890" dirty="0"/>
          </a:p>
        </p:txBody>
      </p:sp>
      <p:sp>
        <p:nvSpPr>
          <p:cNvPr id="92" name="Shape 90"/>
          <p:cNvSpPr/>
          <p:nvPr/>
        </p:nvSpPr>
        <p:spPr>
          <a:xfrm>
            <a:off x="2630180" y="5073091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93" name="Text 91"/>
          <p:cNvSpPr txBox="1"/>
          <p:nvPr/>
        </p:nvSpPr>
        <p:spPr>
          <a:xfrm>
            <a:off x="2703332" y="5091379"/>
            <a:ext cx="587867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infrastructure complete</a:t>
            </a:r>
            <a:endParaRPr lang="en-US" sz="890" dirty="0"/>
          </a:p>
        </p:txBody>
      </p:sp>
      <p:sp>
        <p:nvSpPr>
          <p:cNvPr id="94" name="Shape 92"/>
          <p:cNvSpPr/>
          <p:nvPr/>
        </p:nvSpPr>
        <p:spPr>
          <a:xfrm>
            <a:off x="8655162" y="5073091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95" name="Text 93"/>
          <p:cNvSpPr txBox="1"/>
          <p:nvPr/>
        </p:nvSpPr>
        <p:spPr>
          <a:xfrm>
            <a:off x="8728314" y="5091379"/>
            <a:ext cx="281141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 2027</a:t>
            </a:r>
            <a:endParaRPr lang="en-US" sz="890" dirty="0"/>
          </a:p>
        </p:txBody>
      </p:sp>
      <p:sp>
        <p:nvSpPr>
          <p:cNvPr id="96" name="Shape 94"/>
          <p:cNvSpPr/>
          <p:nvPr/>
        </p:nvSpPr>
        <p:spPr>
          <a:xfrm>
            <a:off x="658368" y="5336438"/>
            <a:ext cx="10954512" cy="263347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31520" y="5354726"/>
            <a:ext cx="182550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M-07</a:t>
            </a:r>
            <a:endParaRPr lang="en-US" sz="890" dirty="0"/>
          </a:p>
        </p:txBody>
      </p:sp>
      <p:sp>
        <p:nvSpPr>
          <p:cNvPr id="98" name="Shape 96"/>
          <p:cNvSpPr/>
          <p:nvPr/>
        </p:nvSpPr>
        <p:spPr>
          <a:xfrm>
            <a:off x="2630180" y="5336438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99" name="Text 97"/>
          <p:cNvSpPr txBox="1"/>
          <p:nvPr/>
        </p:nvSpPr>
        <p:spPr>
          <a:xfrm>
            <a:off x="2703332" y="5354726"/>
            <a:ext cx="587867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training complete</a:t>
            </a:r>
            <a:endParaRPr lang="en-US" sz="890" dirty="0"/>
          </a:p>
        </p:txBody>
      </p:sp>
      <p:sp>
        <p:nvSpPr>
          <p:cNvPr id="100" name="Shape 98"/>
          <p:cNvSpPr/>
          <p:nvPr/>
        </p:nvSpPr>
        <p:spPr>
          <a:xfrm>
            <a:off x="8655162" y="5336438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01" name="Text 99"/>
          <p:cNvSpPr txBox="1"/>
          <p:nvPr/>
        </p:nvSpPr>
        <p:spPr>
          <a:xfrm>
            <a:off x="8728314" y="5354726"/>
            <a:ext cx="281141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2027</a:t>
            </a:r>
            <a:endParaRPr lang="en-US" sz="890" dirty="0"/>
          </a:p>
        </p:txBody>
      </p:sp>
      <p:sp>
        <p:nvSpPr>
          <p:cNvPr id="102" name="Shape 100"/>
          <p:cNvSpPr/>
          <p:nvPr/>
        </p:nvSpPr>
        <p:spPr>
          <a:xfrm>
            <a:off x="658368" y="5599786"/>
            <a:ext cx="10954512" cy="263347"/>
          </a:xfrm>
          <a:prstGeom prst="rect">
            <a:avLst/>
          </a:prstGeom>
          <a:solidFill>
            <a:srgbClr val="F3F3F3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31520" y="5618074"/>
            <a:ext cx="182550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M-08</a:t>
            </a:r>
            <a:endParaRPr lang="en-US" sz="890" dirty="0"/>
          </a:p>
        </p:txBody>
      </p:sp>
      <p:sp>
        <p:nvSpPr>
          <p:cNvPr id="104" name="Shape 102"/>
          <p:cNvSpPr/>
          <p:nvPr/>
        </p:nvSpPr>
        <p:spPr>
          <a:xfrm>
            <a:off x="2630180" y="5599786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05" name="Text 103"/>
          <p:cNvSpPr txBox="1"/>
          <p:nvPr/>
        </p:nvSpPr>
        <p:spPr>
          <a:xfrm>
            <a:off x="2703332" y="5618074"/>
            <a:ext cx="587867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testing complete</a:t>
            </a:r>
            <a:endParaRPr lang="en-US" sz="890" dirty="0"/>
          </a:p>
        </p:txBody>
      </p:sp>
      <p:sp>
        <p:nvSpPr>
          <p:cNvPr id="106" name="Shape 104"/>
          <p:cNvSpPr/>
          <p:nvPr/>
        </p:nvSpPr>
        <p:spPr>
          <a:xfrm>
            <a:off x="8655162" y="5599786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07" name="Text 105"/>
          <p:cNvSpPr txBox="1"/>
          <p:nvPr/>
        </p:nvSpPr>
        <p:spPr>
          <a:xfrm>
            <a:off x="8728314" y="5618074"/>
            <a:ext cx="281141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 2027</a:t>
            </a:r>
            <a:endParaRPr lang="en-US" sz="890" dirty="0"/>
          </a:p>
        </p:txBody>
      </p:sp>
      <p:sp>
        <p:nvSpPr>
          <p:cNvPr id="108" name="Shape 106"/>
          <p:cNvSpPr/>
          <p:nvPr/>
        </p:nvSpPr>
        <p:spPr>
          <a:xfrm>
            <a:off x="658368" y="5863133"/>
            <a:ext cx="10954512" cy="263347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31520" y="5881421"/>
            <a:ext cx="182550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M-09</a:t>
            </a:r>
            <a:endParaRPr lang="en-US" sz="890" dirty="0"/>
          </a:p>
        </p:txBody>
      </p:sp>
      <p:sp>
        <p:nvSpPr>
          <p:cNvPr id="110" name="Shape 108"/>
          <p:cNvSpPr/>
          <p:nvPr/>
        </p:nvSpPr>
        <p:spPr>
          <a:xfrm>
            <a:off x="2630180" y="5863133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11" name="Text 109"/>
          <p:cNvSpPr txBox="1"/>
          <p:nvPr/>
        </p:nvSpPr>
        <p:spPr>
          <a:xfrm>
            <a:off x="2703332" y="5881421"/>
            <a:ext cx="587867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handover</a:t>
            </a:r>
            <a:endParaRPr lang="en-US" sz="890" dirty="0"/>
          </a:p>
        </p:txBody>
      </p:sp>
      <p:sp>
        <p:nvSpPr>
          <p:cNvPr id="112" name="Shape 110"/>
          <p:cNvSpPr/>
          <p:nvPr/>
        </p:nvSpPr>
        <p:spPr>
          <a:xfrm>
            <a:off x="8655162" y="5863133"/>
            <a:ext cx="0" cy="263347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13" name="Text 111"/>
          <p:cNvSpPr txBox="1"/>
          <p:nvPr/>
        </p:nvSpPr>
        <p:spPr>
          <a:xfrm>
            <a:off x="8728314" y="5881421"/>
            <a:ext cx="281141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2027</a:t>
            </a:r>
            <a:endParaRPr lang="en-US" sz="8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management focuses on delivery and continuity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mitigations before procurement and installation expose the project to delay.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10954512" cy="554355"/>
          </a:xfrm>
          <a:prstGeom prst="rect">
            <a:avLst/>
          </a:prstGeom>
          <a:solidFill>
            <a:srgbClr val="171717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64208"/>
            <a:ext cx="2701869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06541" y="1645920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3579693" y="1664208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LIKELIHOOD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40173" y="1645920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 txBox="1"/>
          <p:nvPr/>
        </p:nvSpPr>
        <p:spPr>
          <a:xfrm>
            <a:off x="5113325" y="1664208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73804" y="1645920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6646956" y="1664208"/>
            <a:ext cx="4892772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2200275"/>
            <a:ext cx="10954512" cy="554355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218563"/>
            <a:ext cx="2701869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 permits / terrain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3506541" y="2200275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 txBox="1"/>
          <p:nvPr/>
        </p:nvSpPr>
        <p:spPr>
          <a:xfrm>
            <a:off x="3579693" y="2218563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040173" y="2200275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5113325" y="2218563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573804" y="2200275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6646956" y="2218563"/>
            <a:ext cx="4892772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 authorities early; backup wireless option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58368" y="2754630"/>
            <a:ext cx="10954512" cy="554355"/>
          </a:xfrm>
          <a:prstGeom prst="rect">
            <a:avLst/>
          </a:prstGeom>
          <a:solidFill>
            <a:srgbClr val="F3F3F3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2772918"/>
            <a:ext cx="2701869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capacity / SLA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3506541" y="2754630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3579693" y="2772918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5040173" y="2754630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5113325" y="2772918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6573804" y="2754630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6646956" y="2772918"/>
            <a:ext cx="4892772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Openserve service and restoration commitments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58368" y="3308985"/>
            <a:ext cx="10954512" cy="554355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3327273"/>
            <a:ext cx="2701869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overrun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3506541" y="3308985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3579693" y="3327273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5040173" y="3308985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5113325" y="3327273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573804" y="3308985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 txBox="1"/>
          <p:nvPr/>
        </p:nvSpPr>
        <p:spPr>
          <a:xfrm>
            <a:off x="6646956" y="3327273"/>
            <a:ext cx="4892772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quotes; 15% contingency; strict scope control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658368" y="3863340"/>
            <a:ext cx="10954512" cy="554355"/>
          </a:xfrm>
          <a:prstGeom prst="rect">
            <a:avLst/>
          </a:prstGeom>
          <a:solidFill>
            <a:srgbClr val="F3F3F3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3881628"/>
            <a:ext cx="2701869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 skills gap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3506541" y="3863340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 txBox="1"/>
          <p:nvPr/>
        </p:nvSpPr>
        <p:spPr>
          <a:xfrm>
            <a:off x="3579693" y="3881628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5040173" y="3863340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5113325" y="3881628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6573804" y="3863340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 txBox="1"/>
          <p:nvPr/>
        </p:nvSpPr>
        <p:spPr>
          <a:xfrm>
            <a:off x="6646956" y="3881628"/>
            <a:ext cx="4892772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training; manuals; first-year support contract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658368" y="4417695"/>
            <a:ext cx="10954512" cy="554355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4435983"/>
            <a:ext cx="2701869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Cyberattack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3506541" y="4417695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 txBox="1"/>
          <p:nvPr/>
        </p:nvSpPr>
        <p:spPr>
          <a:xfrm>
            <a:off x="3579693" y="4435983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5040173" y="4417695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51" name="Text 49"/>
          <p:cNvSpPr txBox="1"/>
          <p:nvPr/>
        </p:nvSpPr>
        <p:spPr>
          <a:xfrm>
            <a:off x="5113325" y="4435983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6573804" y="4417695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53" name="Text 51"/>
          <p:cNvSpPr txBox="1"/>
          <p:nvPr/>
        </p:nvSpPr>
        <p:spPr>
          <a:xfrm>
            <a:off x="6646956" y="4435983"/>
            <a:ext cx="4892772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security, updates, monitoring and MFA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658368" y="4972050"/>
            <a:ext cx="10954512" cy="554355"/>
          </a:xfrm>
          <a:prstGeom prst="rect">
            <a:avLst/>
          </a:prstGeom>
          <a:solidFill>
            <a:srgbClr val="F3F3F3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31520" y="4990338"/>
            <a:ext cx="2701869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outages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3506541" y="4972050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57" name="Text 55"/>
          <p:cNvSpPr txBox="1"/>
          <p:nvPr/>
        </p:nvSpPr>
        <p:spPr>
          <a:xfrm>
            <a:off x="3579693" y="4990338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0" dirty="0"/>
          </a:p>
        </p:txBody>
      </p:sp>
      <p:sp>
        <p:nvSpPr>
          <p:cNvPr id="58" name="Shape 56"/>
          <p:cNvSpPr/>
          <p:nvPr/>
        </p:nvSpPr>
        <p:spPr>
          <a:xfrm>
            <a:off x="5040173" y="4972050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59" name="Text 57"/>
          <p:cNvSpPr txBox="1"/>
          <p:nvPr/>
        </p:nvSpPr>
        <p:spPr>
          <a:xfrm>
            <a:off x="5113325" y="4990338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6573804" y="4972050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61" name="Text 59"/>
          <p:cNvSpPr txBox="1"/>
          <p:nvPr/>
        </p:nvSpPr>
        <p:spPr>
          <a:xfrm>
            <a:off x="6646956" y="4990338"/>
            <a:ext cx="4892772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 + generator; test regularly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658368" y="5526405"/>
            <a:ext cx="10954512" cy="554355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31520" y="5544693"/>
            <a:ext cx="2701869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/ adoption</a:t>
            </a:r>
            <a:endParaRPr lang="en-US" sz="940" dirty="0"/>
          </a:p>
        </p:txBody>
      </p:sp>
      <p:sp>
        <p:nvSpPr>
          <p:cNvPr id="64" name="Shape 62"/>
          <p:cNvSpPr/>
          <p:nvPr/>
        </p:nvSpPr>
        <p:spPr>
          <a:xfrm>
            <a:off x="3506541" y="5526405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65" name="Text 63"/>
          <p:cNvSpPr txBox="1"/>
          <p:nvPr/>
        </p:nvSpPr>
        <p:spPr>
          <a:xfrm>
            <a:off x="3579693" y="5544693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940" dirty="0"/>
          </a:p>
        </p:txBody>
      </p:sp>
      <p:sp>
        <p:nvSpPr>
          <p:cNvPr id="66" name="Shape 64"/>
          <p:cNvSpPr/>
          <p:nvPr/>
        </p:nvSpPr>
        <p:spPr>
          <a:xfrm>
            <a:off x="5040173" y="5526405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67" name="Text 65"/>
          <p:cNvSpPr txBox="1"/>
          <p:nvPr/>
        </p:nvSpPr>
        <p:spPr>
          <a:xfrm>
            <a:off x="5113325" y="5544693"/>
            <a:ext cx="1387328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0" dirty="0"/>
          </a:p>
        </p:txBody>
      </p:sp>
      <p:sp>
        <p:nvSpPr>
          <p:cNvPr id="68" name="Shape 66"/>
          <p:cNvSpPr/>
          <p:nvPr/>
        </p:nvSpPr>
        <p:spPr>
          <a:xfrm>
            <a:off x="6573804" y="5526405"/>
            <a:ext cx="0" cy="554355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69" name="Text 67"/>
          <p:cNvSpPr txBox="1"/>
          <p:nvPr/>
        </p:nvSpPr>
        <p:spPr>
          <a:xfrm>
            <a:off x="6646956" y="5544693"/>
            <a:ext cx="4892772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testing; stakeholder workshops and user training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Budget estimate: R8.3 million to R14.5 million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estimate in South African rand; actual costs depend on procurement and validation.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508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R8.3m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103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ESTIMATE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1508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010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R14.5m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281160" y="2103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ESTIMATE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514600"/>
            <a:ext cx="10378440" cy="182880"/>
          </a:xfrm>
          <a:prstGeom prst="rect">
            <a:avLst/>
          </a:prstGeom>
          <a:solidFill>
            <a:srgbClr val="D9D9D9"/>
          </a:solidFill>
          <a:ln w="1016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514600"/>
            <a:ext cx="2560320" cy="182880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2514600"/>
            <a:ext cx="7818120" cy="182880"/>
          </a:xfrm>
          <a:prstGeom prst="rect">
            <a:avLst/>
          </a:prstGeom>
          <a:solidFill>
            <a:srgbClr val="8A8A8A"/>
          </a:solidFill>
          <a:ln w="10160">
            <a:solidFill>
              <a:srgbClr val="8A8A8A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29443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infrastructure</a:t>
            </a:r>
            <a:endParaRPr lang="en-US" sz="103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2944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R2.5m–R4.0m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059168" y="3145536"/>
            <a:ext cx="4005072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04672" y="33375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</a:t>
            </a:r>
            <a:endParaRPr lang="en-US" sz="103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3337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R2.3m–R4.0m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059168" y="3538728"/>
            <a:ext cx="4005072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804672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030" dirty="0"/>
          </a:p>
        </p:txBody>
      </p:sp>
      <p:sp>
        <p:nvSpPr>
          <p:cNvPr id="20" name="Text 18"/>
          <p:cNvSpPr txBox="1"/>
          <p:nvPr/>
        </p:nvSpPr>
        <p:spPr>
          <a:xfrm>
            <a:off x="4736592" y="3730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R0.6m–R1.2m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7059168" y="3931920"/>
            <a:ext cx="4005072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804672" y="41239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1030" dirty="0"/>
          </a:p>
        </p:txBody>
      </p:sp>
      <p:sp>
        <p:nvSpPr>
          <p:cNvPr id="23" name="Text 21"/>
          <p:cNvSpPr txBox="1"/>
          <p:nvPr/>
        </p:nvSpPr>
        <p:spPr>
          <a:xfrm>
            <a:off x="4736592" y="41239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R0.5m–R1.0m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7059168" y="4325112"/>
            <a:ext cx="4005072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804672" y="4517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power</a:t>
            </a:r>
            <a:endParaRPr lang="en-US" sz="1030" dirty="0"/>
          </a:p>
        </p:txBody>
      </p:sp>
      <p:sp>
        <p:nvSpPr>
          <p:cNvPr id="26" name="Text 24"/>
          <p:cNvSpPr txBox="1"/>
          <p:nvPr/>
        </p:nvSpPr>
        <p:spPr>
          <a:xfrm>
            <a:off x="4736592" y="45171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R0.4m–R0.8m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7059168" y="4718304"/>
            <a:ext cx="4005072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804672" y="4910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&amp; project management</a:t>
            </a:r>
            <a:endParaRPr lang="en-US" sz="1030" dirty="0"/>
          </a:p>
        </p:txBody>
      </p:sp>
      <p:sp>
        <p:nvSpPr>
          <p:cNvPr id="29" name="Text 27"/>
          <p:cNvSpPr txBox="1"/>
          <p:nvPr/>
        </p:nvSpPr>
        <p:spPr>
          <a:xfrm>
            <a:off x="4736592" y="49103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R0.8m–R1.6m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059168" y="5111496"/>
            <a:ext cx="4005072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804672" y="53035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Contingency (15%)</a:t>
            </a:r>
            <a:endParaRPr lang="en-US" sz="1030" dirty="0"/>
          </a:p>
        </p:txBody>
      </p:sp>
      <p:sp>
        <p:nvSpPr>
          <p:cNvPr id="32" name="Text 30"/>
          <p:cNvSpPr txBox="1"/>
          <p:nvPr/>
        </p:nvSpPr>
        <p:spPr>
          <a:xfrm>
            <a:off x="4736592" y="53035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R1.2m–R1.9m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7059168" y="5504688"/>
            <a:ext cx="4005072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 txBox="1"/>
          <p:nvPr/>
        </p:nvSpPr>
        <p:spPr>
          <a:xfrm>
            <a:off x="777240" y="5833872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values are estimates from the project documents. Confirm line-item scope and overlaps during the procurement baseline.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PROJECT  /  JANE FURSE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Sustainability is designed into operations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15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9C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reliability depends on budgeting, operational discipline and knowledge transfer.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11045952" y="292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3438144" cy="150876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470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EBE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BUDGET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94560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provision for internet, licences, maintenance and hardware replacement.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389120" y="1664208"/>
            <a:ext cx="3438144" cy="150876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8470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EBE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RELATIONSHIPS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94560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SLA, response and restoration targets, ongoing performance monitoring.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119872" y="1664208"/>
            <a:ext cx="3438144" cy="150876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4464" y="18470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EBE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CAPABILITY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194560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ICT staff trained; manuals and as-built documentation retained.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58368" y="3493008"/>
            <a:ext cx="3438144" cy="150876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6758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EBE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PREVENTIVE CARE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023360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checks, monthly restore tests, annual DR and architecture review.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4389120" y="3493008"/>
            <a:ext cx="3438144" cy="150876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3712" y="36758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EBE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LIFECYCLE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53712" y="4023360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Warranty and support agreements; e-waste handled through municipal policy.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8119872" y="3493008"/>
            <a:ext cx="3438144" cy="1508760"/>
          </a:xfrm>
          <a:prstGeom prst="rect">
            <a:avLst/>
          </a:prstGeom>
          <a:solidFill>
            <a:srgbClr val="222222"/>
          </a:solidFill>
          <a:ln w="10160">
            <a:solidFill>
              <a:srgbClr val="4A4A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84464" y="36758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EBE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OWNERSHIP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84464" y="4023360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Awareness and engagement to build confidence in improved services.</a:t>
            </a:r>
            <a:endParaRPr lang="en-US" sz="106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6144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C6C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MEASURES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555955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≤10 ms latency target  •  99.9% uptime target  •  minimum 40 PCs  •  automated verified backups  •  staff training completed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0"/>
            <a:ext cx="4005072" cy="6473952"/>
          </a:xfrm>
          <a:prstGeom prst="rect">
            <a:avLst/>
          </a:prstGeom>
          <a:solidFill>
            <a:srgbClr val="1C1C1C"/>
          </a:solidFill>
          <a:ln w="10160">
            <a:solidFill>
              <a:srgbClr val="1C1C1C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914400"/>
            <a:ext cx="6995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CONNECTIVITY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BETTER CARE.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2761488"/>
            <a:ext cx="777240" cy="548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3108960"/>
            <a:ext cx="6812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secure, integrated and sustainable digital foundation for Jane Furse Memorial Hospital.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4617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EBE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Kamohelo Makate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4087368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Ally Moremi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524865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Karabo Mosupi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4087368" y="524865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Thabiso Makhubedu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55412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Makhosonke Sibanyoni</a:t>
            </a:r>
            <a:endParaRPr lang="en-US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4087368" y="55412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Phomello Mokonyane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9326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BBB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BASIS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13441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Task 1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charter, scope, risks, budget and milestones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549640" y="2423160"/>
            <a:ext cx="2926080" cy="0"/>
          </a:xfrm>
          <a:prstGeom prst="line">
            <a:avLst/>
          </a:prstGeom>
          <a:noFill/>
          <a:ln w="889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549640" y="26974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 Task 2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and application software, hardware, network architecture, SOPs, governance and outsourcing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4389120"/>
            <a:ext cx="2670048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14232" y="45720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12-MONTH DELIVERY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5577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DBDB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Work Integrated Learning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Sustainable, Secure and Reliable Hospital Network</dc:title>
  <dc:subject>Jane Furse Memorial Hospital Network Infrastructure Project</dc:subject>
  <dc:creator>OpenAI</dc:creator>
  <cp:lastModifiedBy>OpenAI</cp:lastModifiedBy>
  <cp:revision>1</cp:revision>
  <dcterms:created xsi:type="dcterms:W3CDTF">2026-10-22T13:51:55Z</dcterms:created>
  <dcterms:modified xsi:type="dcterms:W3CDTF">2026-10-22T13:51:55Z</dcterms:modified>
</cp:coreProperties>
</file>